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" charset="1" panose="020F05020202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 Bold" charset="1" panose="020F0702030404030204"/>
      <p:regular r:id="rId24"/>
    </p:embeddedFont>
    <p:embeddedFont>
      <p:font typeface="Cambria" charset="1" panose="02040503050406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6.pn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4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88868" y="-192024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645920" y="809244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2873409"/>
            <a:ext cx="7118270" cy="940825"/>
            <a:chOff x="0" y="0"/>
            <a:chExt cx="9491026" cy="125443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491026" cy="647450"/>
              <a:chOff x="0" y="0"/>
              <a:chExt cx="8578739" cy="58521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578739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8578739">
                    <a:moveTo>
                      <a:pt x="0" y="0"/>
                    </a:moveTo>
                    <a:lnTo>
                      <a:pt x="8578739" y="0"/>
                    </a:lnTo>
                    <a:lnTo>
                      <a:pt x="8578739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50243" r="-145154" b="-650243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578739" cy="6233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89"/>
                  </a:lnSpc>
                </a:pPr>
                <a:r>
                  <a:rPr lang="en-US" sz="1824" spc="238">
                    <a:solidFill>
                      <a:srgbClr val="9FD8C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SCHOOL OF COMPUTER SCIENCE AND ENGINEERING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606984"/>
              <a:ext cx="9491026" cy="647450"/>
              <a:chOff x="0" y="0"/>
              <a:chExt cx="8578739" cy="58521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78739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8578739">
                    <a:moveTo>
                      <a:pt x="0" y="0"/>
                    </a:moveTo>
                    <a:lnTo>
                      <a:pt x="8578739" y="0"/>
                    </a:lnTo>
                    <a:lnTo>
                      <a:pt x="8578739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50243" r="-145154" b="-650243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578739" cy="6233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89"/>
                  </a:lnSpc>
                </a:pPr>
                <a:r>
                  <a:rPr lang="en-US" sz="1824">
                    <a:solidFill>
                      <a:srgbClr val="9FD8C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Department of Computer Science and Engineering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165860" y="4320540"/>
            <a:ext cx="15910560" cy="1577340"/>
            <a:chOff x="0" y="0"/>
            <a:chExt cx="2121408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14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470" r="0" b="-974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214080" cy="2122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HealthChef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5692140"/>
            <a:ext cx="14538960" cy="754380"/>
            <a:chOff x="0" y="0"/>
            <a:chExt cx="1938528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852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5529" r="0" b="-3255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38528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FEDE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AI-Based Disease-Aware Diet &amp; Cooking Assistant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7338060"/>
            <a:ext cx="15773400" cy="2125980"/>
            <a:chOff x="0" y="0"/>
            <a:chExt cx="21031200" cy="2834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0312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031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0884896" y="0"/>
                  </a:lnTo>
                  <a:cubicBezTo>
                    <a:pt x="20965668" y="0"/>
                    <a:pt x="21031200" y="65532"/>
                    <a:pt x="21031200" y="146304"/>
                  </a:cubicBezTo>
                  <a:lnTo>
                    <a:pt x="21031200" y="2688336"/>
                  </a:lnTo>
                  <a:cubicBezTo>
                    <a:pt x="21031200" y="2769108"/>
                    <a:pt x="20965668" y="2834640"/>
                    <a:pt x="208848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714500" y="7612380"/>
            <a:ext cx="6858000" cy="411480"/>
            <a:chOff x="0" y="0"/>
            <a:chExt cx="91440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spc="203">
                  <a:solidFill>
                    <a:srgbClr val="8FC7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14500" y="8023860"/>
            <a:ext cx="7543800" cy="617220"/>
            <a:chOff x="0" y="0"/>
            <a:chExt cx="1005840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0" cy="822960"/>
            </a:xfrm>
            <a:custGeom>
              <a:avLst/>
              <a:gdLst/>
              <a:ahLst/>
              <a:cxnLst/>
              <a:rect r="r" b="b" t="t" l="l"/>
              <a:pathLst>
                <a:path h="82296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0584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Mayank Namdev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1200" y="7612380"/>
            <a:ext cx="6858000" cy="411480"/>
            <a:chOff x="0" y="0"/>
            <a:chExt cx="91440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 spc="203">
                  <a:solidFill>
                    <a:srgbClr val="8FC7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SUBMITTED BY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0" y="8023860"/>
            <a:ext cx="7269480" cy="548640"/>
            <a:chOff x="0" y="0"/>
            <a:chExt cx="9692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6926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Sana Soni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1200" y="8572500"/>
            <a:ext cx="7269480" cy="480060"/>
            <a:chOff x="0" y="0"/>
            <a:chExt cx="969264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6926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CFED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2427030398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-340757" y="-309704"/>
            <a:ext cx="7107692" cy="2676807"/>
          </a:xfrm>
          <a:custGeom>
            <a:avLst/>
            <a:gdLst/>
            <a:ahLst/>
            <a:cxnLst/>
            <a:rect r="r" b="b" t="t" l="l"/>
            <a:pathLst>
              <a:path h="2676807" w="7107692">
                <a:moveTo>
                  <a:pt x="0" y="0"/>
                </a:moveTo>
                <a:lnTo>
                  <a:pt x="7107692" y="0"/>
                </a:lnTo>
                <a:lnTo>
                  <a:pt x="7107692" y="2676808"/>
                </a:lnTo>
                <a:lnTo>
                  <a:pt x="0" y="2676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416" r="0" b="-2241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0" y="77285"/>
            <a:ext cx="6507680" cy="1902830"/>
          </a:xfrm>
          <a:custGeom>
            <a:avLst/>
            <a:gdLst/>
            <a:ahLst/>
            <a:cxnLst/>
            <a:rect r="r" b="b" t="t" l="l"/>
            <a:pathLst>
              <a:path h="1902830" w="6507680">
                <a:moveTo>
                  <a:pt x="0" y="0"/>
                </a:moveTo>
                <a:lnTo>
                  <a:pt x="6507680" y="0"/>
                </a:lnTo>
                <a:lnTo>
                  <a:pt x="6507680" y="1902830"/>
                </a:lnTo>
                <a:lnTo>
                  <a:pt x="0" y="1902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88868" y="-192024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E6F4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645920" y="809244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E6F4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Outline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4855" y="2527935"/>
            <a:ext cx="8180070" cy="1596390"/>
            <a:chOff x="0" y="0"/>
            <a:chExt cx="10906760" cy="2128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38428" y="2914650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8428" y="2914650"/>
            <a:ext cx="822960" cy="822960"/>
            <a:chOff x="0" y="0"/>
            <a:chExt cx="10972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63140" y="2537460"/>
            <a:ext cx="6377940" cy="1577340"/>
            <a:chOff x="0" y="0"/>
            <a:chExt cx="8503920" cy="2103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89923" y="2527935"/>
            <a:ext cx="8180070" cy="1596390"/>
            <a:chOff x="0" y="0"/>
            <a:chExt cx="10906760" cy="2128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683496" y="2914650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83496" y="2914650"/>
            <a:ext cx="822960" cy="822960"/>
            <a:chOff x="0" y="0"/>
            <a:chExt cx="1097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08208" y="2537460"/>
            <a:ext cx="6377940" cy="1577340"/>
            <a:chOff x="0" y="0"/>
            <a:chExt cx="8503920" cy="2103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Review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4855" y="4335704"/>
            <a:ext cx="8180070" cy="1596390"/>
            <a:chOff x="0" y="0"/>
            <a:chExt cx="10906760" cy="2128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38428" y="4722419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38428" y="4722419"/>
            <a:ext cx="822960" cy="822960"/>
            <a:chOff x="0" y="0"/>
            <a:chExt cx="10972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63140" y="4345229"/>
            <a:ext cx="6377940" cy="1577340"/>
            <a:chOff x="0" y="0"/>
            <a:chExt cx="8503920" cy="2103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89923" y="4335704"/>
            <a:ext cx="8180070" cy="1596390"/>
            <a:chOff x="0" y="0"/>
            <a:chExt cx="10906760" cy="2128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83496" y="4722419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83496" y="4722419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08208" y="4345229"/>
            <a:ext cx="6377940" cy="1577340"/>
            <a:chOff x="0" y="0"/>
            <a:chExt cx="8503920" cy="2103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44855" y="6143473"/>
            <a:ext cx="8180070" cy="1596390"/>
            <a:chOff x="0" y="0"/>
            <a:chExt cx="10906760" cy="2128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38428" y="6530188"/>
            <a:ext cx="822960" cy="822960"/>
            <a:chOff x="0" y="0"/>
            <a:chExt cx="109728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38428" y="6530188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263140" y="6152998"/>
            <a:ext cx="6377940" cy="1577340"/>
            <a:chOff x="0" y="0"/>
            <a:chExt cx="8503920" cy="2103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89923" y="6143473"/>
            <a:ext cx="8180070" cy="1596390"/>
            <a:chOff x="0" y="0"/>
            <a:chExt cx="10906760" cy="2128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683496" y="6530188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83496" y="6530188"/>
            <a:ext cx="822960" cy="822960"/>
            <a:chOff x="0" y="0"/>
            <a:chExt cx="10972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808208" y="6152998"/>
            <a:ext cx="6377940" cy="1577340"/>
            <a:chOff x="0" y="0"/>
            <a:chExt cx="8503920" cy="21031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4855" y="7951241"/>
            <a:ext cx="8180070" cy="1596390"/>
            <a:chOff x="0" y="0"/>
            <a:chExt cx="10906760" cy="2128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138428" y="8337956"/>
            <a:ext cx="822960" cy="822960"/>
            <a:chOff x="0" y="0"/>
            <a:chExt cx="1097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38428" y="8337956"/>
            <a:ext cx="822960" cy="822960"/>
            <a:chOff x="0" y="0"/>
            <a:chExt cx="109728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263140" y="7960766"/>
            <a:ext cx="6377940" cy="1577340"/>
            <a:chOff x="0" y="0"/>
            <a:chExt cx="8503920" cy="2103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289923" y="7951241"/>
            <a:ext cx="8180070" cy="1596390"/>
            <a:chOff x="0" y="0"/>
            <a:chExt cx="10906760" cy="2128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06760" cy="2128520"/>
            </a:xfrm>
            <a:custGeom>
              <a:avLst/>
              <a:gdLst/>
              <a:ahLst/>
              <a:cxnLst/>
              <a:rect r="r" b="b" t="t" l="l"/>
              <a:pathLst>
                <a:path h="2128520" w="1090676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10777220" y="0"/>
                  </a:lnTo>
                  <a:cubicBezTo>
                    <a:pt x="10848721" y="0"/>
                    <a:pt x="10906760" y="58039"/>
                    <a:pt x="10906760" y="129540"/>
                  </a:cubicBezTo>
                  <a:lnTo>
                    <a:pt x="10906760" y="1998980"/>
                  </a:lnTo>
                  <a:cubicBezTo>
                    <a:pt x="10906760" y="2070481"/>
                    <a:pt x="10848721" y="2128520"/>
                    <a:pt x="10777220" y="2128520"/>
                  </a:cubicBezTo>
                  <a:lnTo>
                    <a:pt x="129540" y="2128520"/>
                  </a:lnTo>
                  <a:cubicBezTo>
                    <a:pt x="58039" y="2128520"/>
                    <a:pt x="0" y="2070481"/>
                    <a:pt x="0" y="199898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683496" y="8337956"/>
            <a:ext cx="822960" cy="822960"/>
            <a:chOff x="0" y="0"/>
            <a:chExt cx="1097280" cy="10972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83496" y="8337956"/>
            <a:ext cx="822960" cy="822960"/>
            <a:chOff x="0" y="0"/>
            <a:chExt cx="109728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808208" y="7960766"/>
            <a:ext cx="6377940" cy="1577340"/>
            <a:chOff x="0" y="0"/>
            <a:chExt cx="8503920" cy="2103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503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5039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3B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everyday food choices have become risky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674620"/>
            <a:ext cx="850392" cy="850392"/>
            <a:chOff x="0" y="0"/>
            <a:chExt cx="1133856" cy="1133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5484" y="2895724"/>
            <a:ext cx="408184" cy="408184"/>
            <a:chOff x="0" y="0"/>
            <a:chExt cx="544246" cy="544246"/>
          </a:xfrm>
        </p:grpSpPr>
        <p:sp>
          <p:nvSpPr>
            <p:cNvPr name="Freeform 11" id="11" descr="/home/claude/healthchef/icon_heartbeat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88820" y="2564892"/>
            <a:ext cx="14950440" cy="1371600"/>
            <a:chOff x="0" y="0"/>
            <a:chExt cx="1993392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33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993392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227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Lifestyle diseases such as diabetes, hypertension and high cholesterol are rising sharply, making everyday food choices a health risk.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4293108"/>
            <a:ext cx="850392" cy="850392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5484" y="4514212"/>
            <a:ext cx="408184" cy="408184"/>
            <a:chOff x="0" y="0"/>
            <a:chExt cx="544246" cy="544246"/>
          </a:xfrm>
        </p:grpSpPr>
        <p:sp>
          <p:nvSpPr>
            <p:cNvPr name="Freeform 18" id="18" descr="/home/claude/healthchef/icon_triangle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988820" y="4183380"/>
            <a:ext cx="14950440" cy="1371600"/>
            <a:chOff x="0" y="0"/>
            <a:chExt cx="1993392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33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993392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227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Diet management is crucial, but most people struggle to identify what is safe to eat for their specific condition.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4380" y="5911596"/>
            <a:ext cx="850392" cy="850392"/>
            <a:chOff x="0" y="0"/>
            <a:chExt cx="1133856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5484" y="6132700"/>
            <a:ext cx="408184" cy="408184"/>
            <a:chOff x="0" y="0"/>
            <a:chExt cx="544246" cy="544246"/>
          </a:xfrm>
        </p:grpSpPr>
        <p:sp>
          <p:nvSpPr>
            <p:cNvPr name="Freeform 25" id="25" descr="/home/claude/healthchef/icon_chart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88820" y="5801868"/>
            <a:ext cx="14950440" cy="1371600"/>
            <a:chOff x="0" y="0"/>
            <a:chExt cx="1993392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33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993392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227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diet apps mainly track calories and offer generic meal plans, ignoring medical conditions, home ingredients and real cooking practices.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4380" y="7530084"/>
            <a:ext cx="850392" cy="850392"/>
            <a:chOff x="0" y="0"/>
            <a:chExt cx="1133856" cy="113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5484" y="7751188"/>
            <a:ext cx="408184" cy="408184"/>
            <a:chOff x="0" y="0"/>
            <a:chExt cx="544246" cy="544246"/>
          </a:xfrm>
        </p:grpSpPr>
        <p:sp>
          <p:nvSpPr>
            <p:cNvPr name="Freeform 32" id="32" descr="/home/claude/healthchef/icon_lightbulb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88820" y="7420356"/>
            <a:ext cx="14950440" cy="1371600"/>
            <a:chOff x="0" y="0"/>
            <a:chExt cx="1993392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933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993392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sz="227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smart, disease-aware cooking assistant is needed to support safe, practical, everyday meals.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HealthChef, at a glance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733675"/>
            <a:ext cx="8180070" cy="2899410"/>
            <a:chOff x="0" y="0"/>
            <a:chExt cx="10906760" cy="3865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9067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759440" y="0"/>
                  </a:lnTo>
                  <a:cubicBezTo>
                    <a:pt x="10840847" y="0"/>
                    <a:pt x="10906760" y="65913"/>
                    <a:pt x="10906760" y="147320"/>
                  </a:cubicBezTo>
                  <a:lnTo>
                    <a:pt x="10906760" y="3718560"/>
                  </a:lnTo>
                  <a:cubicBezTo>
                    <a:pt x="10906760" y="3799967"/>
                    <a:pt x="10840847" y="3865880"/>
                    <a:pt x="1075944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154680"/>
            <a:ext cx="850392" cy="850392"/>
            <a:chOff x="0" y="0"/>
            <a:chExt cx="1133856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6964" y="3375784"/>
            <a:ext cx="408184" cy="408184"/>
            <a:chOff x="0" y="0"/>
            <a:chExt cx="544246" cy="544246"/>
          </a:xfrm>
        </p:grpSpPr>
        <p:sp>
          <p:nvSpPr>
            <p:cNvPr name="Freeform 13" id="13" descr="/home/claude/healthchef/icon_userlock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3127248"/>
            <a:ext cx="6240780" cy="617220"/>
            <a:chOff x="0" y="0"/>
            <a:chExt cx="832104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21040" cy="822960"/>
            </a:xfrm>
            <a:custGeom>
              <a:avLst/>
              <a:gdLst/>
              <a:ahLst/>
              <a:cxnLst/>
              <a:rect r="r" b="b" t="t" l="l"/>
              <a:pathLst>
                <a:path h="82296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015" r="0" b="-1470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3210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Personalised Onboarding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4087368"/>
            <a:ext cx="7338060" cy="1371600"/>
            <a:chOff x="0" y="0"/>
            <a:chExt cx="978408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Captures biometrics, health goals, medical conditions, allergies and dietary preferences.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89923" y="2733675"/>
            <a:ext cx="8180070" cy="2899410"/>
            <a:chOff x="0" y="0"/>
            <a:chExt cx="10906760" cy="3865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067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9067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759440" y="0"/>
                  </a:lnTo>
                  <a:cubicBezTo>
                    <a:pt x="10840847" y="0"/>
                    <a:pt x="10906760" y="65913"/>
                    <a:pt x="10906760" y="147320"/>
                  </a:cubicBezTo>
                  <a:lnTo>
                    <a:pt x="10906760" y="3718560"/>
                  </a:lnTo>
                  <a:cubicBezTo>
                    <a:pt x="10906760" y="3799967"/>
                    <a:pt x="10840847" y="3865880"/>
                    <a:pt x="1075944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10928" y="3154680"/>
            <a:ext cx="850392" cy="850392"/>
            <a:chOff x="0" y="0"/>
            <a:chExt cx="1133856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32032" y="3375784"/>
            <a:ext cx="408184" cy="408184"/>
            <a:chOff x="0" y="0"/>
            <a:chExt cx="544246" cy="544246"/>
          </a:xfrm>
        </p:grpSpPr>
        <p:sp>
          <p:nvSpPr>
            <p:cNvPr name="Freeform 25" id="25" descr="/home/claude/healthchef/icon_utensils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76788" y="3127248"/>
            <a:ext cx="6240780" cy="617220"/>
            <a:chOff x="0" y="0"/>
            <a:chExt cx="832104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21040" cy="822960"/>
            </a:xfrm>
            <a:custGeom>
              <a:avLst/>
              <a:gdLst/>
              <a:ahLst/>
              <a:cxnLst/>
              <a:rect r="r" b="b" t="t" l="l"/>
              <a:pathLst>
                <a:path h="82296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015" r="0" b="-1470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83210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Recipe Studio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10928" y="4087368"/>
            <a:ext cx="7338060" cy="1371600"/>
            <a:chOff x="0" y="0"/>
            <a:chExt cx="978408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Generates disease-safe recipes with ingredient substitutions, nutrition breakdowns and Hinglish/English voice guidance.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4855" y="5998083"/>
            <a:ext cx="8180070" cy="2899410"/>
            <a:chOff x="0" y="0"/>
            <a:chExt cx="10906760" cy="3865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67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9067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759440" y="0"/>
                  </a:lnTo>
                  <a:cubicBezTo>
                    <a:pt x="10840847" y="0"/>
                    <a:pt x="10906760" y="65913"/>
                    <a:pt x="10906760" y="147320"/>
                  </a:cubicBezTo>
                  <a:lnTo>
                    <a:pt x="10906760" y="3718560"/>
                  </a:lnTo>
                  <a:cubicBezTo>
                    <a:pt x="10906760" y="3799967"/>
                    <a:pt x="10840847" y="3865880"/>
                    <a:pt x="1075944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6419088"/>
            <a:ext cx="850392" cy="850392"/>
            <a:chOff x="0" y="0"/>
            <a:chExt cx="1133856" cy="11338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86964" y="6640192"/>
            <a:ext cx="408184" cy="408184"/>
            <a:chOff x="0" y="0"/>
            <a:chExt cx="544246" cy="544246"/>
          </a:xfrm>
        </p:grpSpPr>
        <p:sp>
          <p:nvSpPr>
            <p:cNvPr name="Freeform 37" id="37" descr="/home/claude/healthchef/icon_clipboard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331720" y="6391656"/>
            <a:ext cx="6240780" cy="617220"/>
            <a:chOff x="0" y="0"/>
            <a:chExt cx="832104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21040" cy="822960"/>
            </a:xfrm>
            <a:custGeom>
              <a:avLst/>
              <a:gdLst/>
              <a:ahLst/>
              <a:cxnLst/>
              <a:rect r="r" b="b" t="t" l="l"/>
              <a:pathLst>
                <a:path h="82296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015" r="0" b="-14701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3210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 Trackers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5860" y="7351776"/>
            <a:ext cx="7338060" cy="1371600"/>
            <a:chOff x="0" y="0"/>
            <a:chExt cx="978408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Nutrition, hydration, sleep, workouts and medication tracking for day-to-day health management.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89923" y="5998083"/>
            <a:ext cx="8180070" cy="2899410"/>
            <a:chOff x="0" y="0"/>
            <a:chExt cx="10906760" cy="3865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067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1090676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759440" y="0"/>
                  </a:lnTo>
                  <a:cubicBezTo>
                    <a:pt x="10840847" y="0"/>
                    <a:pt x="10906760" y="65913"/>
                    <a:pt x="10906760" y="147320"/>
                  </a:cubicBezTo>
                  <a:lnTo>
                    <a:pt x="10906760" y="3718560"/>
                  </a:lnTo>
                  <a:cubicBezTo>
                    <a:pt x="10906760" y="3799967"/>
                    <a:pt x="10840847" y="3865880"/>
                    <a:pt x="1075944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10928" y="6419088"/>
            <a:ext cx="850392" cy="850392"/>
            <a:chOff x="0" y="0"/>
            <a:chExt cx="1133856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932032" y="6640192"/>
            <a:ext cx="408184" cy="408184"/>
            <a:chOff x="0" y="0"/>
            <a:chExt cx="544246" cy="544246"/>
          </a:xfrm>
        </p:grpSpPr>
        <p:sp>
          <p:nvSpPr>
            <p:cNvPr name="Freeform 49" id="49" descr="/home/claude/healthchef/icon_compass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876788" y="6391656"/>
            <a:ext cx="6240780" cy="617220"/>
            <a:chOff x="0" y="0"/>
            <a:chExt cx="8321040" cy="822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21040" cy="822960"/>
            </a:xfrm>
            <a:custGeom>
              <a:avLst/>
              <a:gdLst/>
              <a:ahLst/>
              <a:cxnLst/>
              <a:rect r="r" b="b" t="t" l="l"/>
              <a:pathLst>
                <a:path h="82296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015" r="0" b="-14701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3210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5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7-Day Meal Planner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10928" y="7351776"/>
            <a:ext cx="7338060" cy="1371600"/>
            <a:chOff x="0" y="0"/>
            <a:chExt cx="978408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Plans the week ahead and supports safe, practical everyday meals for Indian households.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336137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327" r="0" b="-5063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307562"/>
            <a:ext cx="13716000" cy="508635"/>
            <a:chOff x="0" y="0"/>
            <a:chExt cx="18288000" cy="678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678180"/>
            </a:xfrm>
            <a:custGeom>
              <a:avLst/>
              <a:gdLst/>
              <a:ahLst/>
              <a:cxnLst/>
              <a:rect r="r" b="b" t="t" l="l"/>
              <a:pathLst>
                <a:path h="6781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78180"/>
                  </a:lnTo>
                  <a:lnTo>
                    <a:pt x="0" y="678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439" r="0" b="-4754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88000" cy="716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COMPETITIVE LANDSCAPE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747617"/>
            <a:ext cx="15910560" cy="1165860"/>
            <a:chOff x="0" y="0"/>
            <a:chExt cx="21214080" cy="1554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28" r="0" b="-21572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" y="733330"/>
            <a:ext cx="15910560" cy="1180148"/>
            <a:chOff x="0" y="0"/>
            <a:chExt cx="21214080" cy="15735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4080" cy="1573530"/>
            </a:xfrm>
            <a:custGeom>
              <a:avLst/>
              <a:gdLst/>
              <a:ahLst/>
              <a:cxnLst/>
              <a:rect r="r" b="b" t="t" l="l"/>
              <a:pathLst>
                <a:path h="157353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73530"/>
                  </a:lnTo>
                  <a:lnTo>
                    <a:pt x="0" y="1573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94" r="0" b="-2126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2140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Comparison Table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94284" y="5172142"/>
            <a:ext cx="3008233" cy="902827"/>
            <a:chOff x="0" y="0"/>
            <a:chExt cx="4010978" cy="12037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61524" y="1762411"/>
            <a:ext cx="4869180" cy="822960"/>
            <a:chOff x="0" y="0"/>
            <a:chExt cx="64922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382512" y="0"/>
                  </a:lnTo>
                  <a:cubicBezTo>
                    <a:pt x="6443091" y="0"/>
                    <a:pt x="6492240" y="49149"/>
                    <a:pt x="6492240" y="109728"/>
                  </a:cubicBezTo>
                  <a:lnTo>
                    <a:pt x="6492240" y="987552"/>
                  </a:lnTo>
                  <a:cubicBezTo>
                    <a:pt x="6492240" y="1048131"/>
                    <a:pt x="6443091" y="1097280"/>
                    <a:pt x="638251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7264" y="1762411"/>
            <a:ext cx="4457700" cy="822960"/>
            <a:chOff x="0" y="0"/>
            <a:chExt cx="59436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471" r="0" b="-5546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7264" y="1740980"/>
            <a:ext cx="4457700" cy="844391"/>
            <a:chOff x="0" y="0"/>
            <a:chExt cx="5943600" cy="11258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1125855"/>
            </a:xfrm>
            <a:custGeom>
              <a:avLst/>
              <a:gdLst/>
              <a:ahLst/>
              <a:cxnLst/>
              <a:rect r="r" b="b" t="t" l="l"/>
              <a:pathLst>
                <a:path h="11258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65" r="0" b="-5286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94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CAPABILITY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618197" y="1749904"/>
            <a:ext cx="3008233" cy="847963"/>
            <a:chOff x="0" y="0"/>
            <a:chExt cx="4010978" cy="11306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10914" cy="1130681"/>
            </a:xfrm>
            <a:custGeom>
              <a:avLst/>
              <a:gdLst/>
              <a:ahLst/>
              <a:cxnLst/>
              <a:rect r="r" b="b" t="t" l="l"/>
              <a:pathLst>
                <a:path h="1130681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130681"/>
                  </a:lnTo>
                  <a:lnTo>
                    <a:pt x="0" y="1130681"/>
                  </a:lnTo>
                  <a:close/>
                </a:path>
              </a:pathLst>
            </a:custGeom>
            <a:solidFill>
              <a:srgbClr val="073B4C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699284" y="1762411"/>
            <a:ext cx="2846070" cy="822960"/>
            <a:chOff x="0" y="0"/>
            <a:chExt cx="37947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94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9" r="0" b="-1733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699284" y="1740980"/>
            <a:ext cx="2846070" cy="844391"/>
            <a:chOff x="0" y="0"/>
            <a:chExt cx="3794760" cy="11258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947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" r="0" b="-156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794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MyFitnessPal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601427" y="1749904"/>
            <a:ext cx="3008233" cy="847963"/>
            <a:chOff x="0" y="0"/>
            <a:chExt cx="4010978" cy="11306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10914" cy="1130681"/>
            </a:xfrm>
            <a:custGeom>
              <a:avLst/>
              <a:gdLst/>
              <a:ahLst/>
              <a:cxnLst/>
              <a:rect r="r" b="b" t="t" l="l"/>
              <a:pathLst>
                <a:path h="1130681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130681"/>
                  </a:lnTo>
                  <a:lnTo>
                    <a:pt x="0" y="1130681"/>
                  </a:lnTo>
                  <a:close/>
                </a:path>
              </a:pathLst>
            </a:custGeom>
            <a:solidFill>
              <a:srgbClr val="073B4C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682514" y="1762411"/>
            <a:ext cx="2846070" cy="822960"/>
            <a:chOff x="0" y="0"/>
            <a:chExt cx="379476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94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9" r="0" b="-1733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682514" y="1740980"/>
            <a:ext cx="2846070" cy="844391"/>
            <a:chOff x="0" y="0"/>
            <a:chExt cx="3794760" cy="11258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947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" r="0" b="-156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794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HealthifyMe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584657" y="1749904"/>
            <a:ext cx="3008233" cy="847963"/>
            <a:chOff x="0" y="0"/>
            <a:chExt cx="4010978" cy="11306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10914" cy="1130681"/>
            </a:xfrm>
            <a:custGeom>
              <a:avLst/>
              <a:gdLst/>
              <a:ahLst/>
              <a:cxnLst/>
              <a:rect r="r" b="b" t="t" l="l"/>
              <a:pathLst>
                <a:path h="1130681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130681"/>
                  </a:lnTo>
                  <a:lnTo>
                    <a:pt x="0" y="1130681"/>
                  </a:lnTo>
                  <a:close/>
                </a:path>
              </a:pathLst>
            </a:custGeom>
            <a:solidFill>
              <a:srgbClr val="073B4C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665744" y="1762411"/>
            <a:ext cx="2846070" cy="822960"/>
            <a:chOff x="0" y="0"/>
            <a:chExt cx="379476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94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9" r="0" b="-17339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65744" y="1740980"/>
            <a:ext cx="2846070" cy="844391"/>
            <a:chOff x="0" y="0"/>
            <a:chExt cx="3794760" cy="11258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7947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" r="0" b="-1567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794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MyPlate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67887" y="1749904"/>
            <a:ext cx="3008233" cy="847963"/>
            <a:chOff x="0" y="0"/>
            <a:chExt cx="4010978" cy="113061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10914" cy="1130681"/>
            </a:xfrm>
            <a:custGeom>
              <a:avLst/>
              <a:gdLst/>
              <a:ahLst/>
              <a:cxnLst/>
              <a:rect r="r" b="b" t="t" l="l"/>
              <a:pathLst>
                <a:path h="1130681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130681"/>
                  </a:lnTo>
                  <a:lnTo>
                    <a:pt x="0" y="1130681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648974" y="1762411"/>
            <a:ext cx="2846070" cy="822960"/>
            <a:chOff x="0" y="0"/>
            <a:chExt cx="379476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94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9" r="0" b="-17339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648974" y="1740980"/>
            <a:ext cx="2846070" cy="844391"/>
            <a:chOff x="0" y="0"/>
            <a:chExt cx="3794760" cy="11258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94760" cy="1125855"/>
            </a:xfrm>
            <a:custGeom>
              <a:avLst/>
              <a:gdLst/>
              <a:ahLst/>
              <a:cxnLst/>
              <a:rect r="r" b="b" t="t" l="l"/>
              <a:pathLst>
                <a:path h="1125855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1125855"/>
                  </a:lnTo>
                  <a:lnTo>
                    <a:pt x="0" y="1125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" r="0" b="-156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7947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HealthChef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49017" y="2572864"/>
            <a:ext cx="4894183" cy="902827"/>
            <a:chOff x="0" y="0"/>
            <a:chExt cx="6525578" cy="12037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67264" y="2585371"/>
            <a:ext cx="4457700" cy="877824"/>
            <a:chOff x="0" y="0"/>
            <a:chExt cx="5943600" cy="11704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7264" y="2556796"/>
            <a:ext cx="4457700" cy="906399"/>
            <a:chOff x="0" y="0"/>
            <a:chExt cx="5943600" cy="12085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INGREDIENT-BASED MEAL GENERATION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618197" y="2572864"/>
            <a:ext cx="3008233" cy="902827"/>
            <a:chOff x="0" y="0"/>
            <a:chExt cx="4010978" cy="12037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902863" y="2804827"/>
            <a:ext cx="438912" cy="438912"/>
            <a:chOff x="0" y="0"/>
            <a:chExt cx="585216" cy="5852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902863" y="2804827"/>
            <a:ext cx="438912" cy="438912"/>
            <a:chOff x="0" y="0"/>
            <a:chExt cx="585216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902863" y="2769108"/>
            <a:ext cx="438912" cy="474631"/>
            <a:chOff x="0" y="0"/>
            <a:chExt cx="585216" cy="63284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601427" y="2572864"/>
            <a:ext cx="3008233" cy="902827"/>
            <a:chOff x="0" y="0"/>
            <a:chExt cx="4010978" cy="12037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584657" y="2572864"/>
            <a:ext cx="3008233" cy="902827"/>
            <a:chOff x="0" y="0"/>
            <a:chExt cx="4010978" cy="12037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869323" y="2804827"/>
            <a:ext cx="438912" cy="438912"/>
            <a:chOff x="0" y="0"/>
            <a:chExt cx="585216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69323" y="2804827"/>
            <a:ext cx="438912" cy="438912"/>
            <a:chOff x="0" y="0"/>
            <a:chExt cx="585216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869323" y="2769108"/>
            <a:ext cx="438912" cy="474631"/>
            <a:chOff x="0" y="0"/>
            <a:chExt cx="585216" cy="63284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567887" y="2572864"/>
            <a:ext cx="3008233" cy="902827"/>
            <a:chOff x="0" y="0"/>
            <a:chExt cx="4010978" cy="120377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5852553" y="2804827"/>
            <a:ext cx="438912" cy="438912"/>
            <a:chOff x="0" y="0"/>
            <a:chExt cx="585216" cy="5852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5852553" y="2804827"/>
            <a:ext cx="438912" cy="438912"/>
            <a:chOff x="0" y="0"/>
            <a:chExt cx="585216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852553" y="2769108"/>
            <a:ext cx="438912" cy="474631"/>
            <a:chOff x="0" y="0"/>
            <a:chExt cx="585216" cy="63284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49017" y="3450688"/>
            <a:ext cx="4894183" cy="902827"/>
            <a:chOff x="0" y="0"/>
            <a:chExt cx="6525578" cy="120377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67264" y="3463195"/>
            <a:ext cx="4457700" cy="877824"/>
            <a:chOff x="0" y="0"/>
            <a:chExt cx="5943600" cy="117043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7264" y="3434620"/>
            <a:ext cx="4457700" cy="906399"/>
            <a:chOff x="0" y="0"/>
            <a:chExt cx="5943600" cy="120853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MULTI-MEAL SUGGESTION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618197" y="3450688"/>
            <a:ext cx="3008233" cy="902827"/>
            <a:chOff x="0" y="0"/>
            <a:chExt cx="4010978" cy="120377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6902863" y="3682651"/>
            <a:ext cx="438912" cy="438912"/>
            <a:chOff x="0" y="0"/>
            <a:chExt cx="585216" cy="58521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902863" y="3682651"/>
            <a:ext cx="438912" cy="438912"/>
            <a:chOff x="0" y="0"/>
            <a:chExt cx="585216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902863" y="3646932"/>
            <a:ext cx="438912" cy="474631"/>
            <a:chOff x="0" y="0"/>
            <a:chExt cx="585216" cy="63284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601427" y="3450688"/>
            <a:ext cx="3008233" cy="902827"/>
            <a:chOff x="0" y="0"/>
            <a:chExt cx="4010978" cy="120377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886093" y="3682651"/>
            <a:ext cx="438912" cy="438912"/>
            <a:chOff x="0" y="0"/>
            <a:chExt cx="585216" cy="5852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86093" y="3682651"/>
            <a:ext cx="438912" cy="438912"/>
            <a:chOff x="0" y="0"/>
            <a:chExt cx="585216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886093" y="3646932"/>
            <a:ext cx="438912" cy="474631"/>
            <a:chOff x="0" y="0"/>
            <a:chExt cx="585216" cy="63284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584657" y="3450688"/>
            <a:ext cx="3008233" cy="902827"/>
            <a:chOff x="0" y="0"/>
            <a:chExt cx="4010978" cy="120377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869323" y="3682651"/>
            <a:ext cx="438912" cy="438912"/>
            <a:chOff x="0" y="0"/>
            <a:chExt cx="585216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869323" y="3682651"/>
            <a:ext cx="438912" cy="438912"/>
            <a:chOff x="0" y="0"/>
            <a:chExt cx="585216" cy="58521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869323" y="3646932"/>
            <a:ext cx="438912" cy="474631"/>
            <a:chOff x="0" y="0"/>
            <a:chExt cx="585216" cy="63284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567887" y="3450688"/>
            <a:ext cx="3008233" cy="902827"/>
            <a:chOff x="0" y="0"/>
            <a:chExt cx="4010978" cy="120377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5852553" y="3682651"/>
            <a:ext cx="438912" cy="438912"/>
            <a:chOff x="0" y="0"/>
            <a:chExt cx="585216" cy="58521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5852553" y="3682651"/>
            <a:ext cx="438912" cy="438912"/>
            <a:chOff x="0" y="0"/>
            <a:chExt cx="585216" cy="58521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852553" y="3646932"/>
            <a:ext cx="438912" cy="474631"/>
            <a:chOff x="0" y="0"/>
            <a:chExt cx="585216" cy="63284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49017" y="4328512"/>
            <a:ext cx="4894183" cy="902827"/>
            <a:chOff x="0" y="0"/>
            <a:chExt cx="6525578" cy="120377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967264" y="4341019"/>
            <a:ext cx="4457700" cy="877824"/>
            <a:chOff x="0" y="0"/>
            <a:chExt cx="5943600" cy="117043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67264" y="4312444"/>
            <a:ext cx="4457700" cy="906399"/>
            <a:chOff x="0" y="0"/>
            <a:chExt cx="5943600" cy="120853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PERSONALIZED MEDICAL-BASED SOLUTIONS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5618197" y="4328512"/>
            <a:ext cx="3008233" cy="902827"/>
            <a:chOff x="0" y="0"/>
            <a:chExt cx="4010978" cy="120377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6902863" y="4560475"/>
            <a:ext cx="438912" cy="438912"/>
            <a:chOff x="0" y="0"/>
            <a:chExt cx="585216" cy="58521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6902863" y="4560475"/>
            <a:ext cx="438912" cy="438912"/>
            <a:chOff x="0" y="0"/>
            <a:chExt cx="585216" cy="58521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6902863" y="4524756"/>
            <a:ext cx="438912" cy="474631"/>
            <a:chOff x="0" y="0"/>
            <a:chExt cx="585216" cy="632841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886093" y="4560475"/>
            <a:ext cx="438912" cy="438912"/>
            <a:chOff x="0" y="0"/>
            <a:chExt cx="585216" cy="58521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886093" y="4560475"/>
            <a:ext cx="438912" cy="438912"/>
            <a:chOff x="0" y="0"/>
            <a:chExt cx="585216" cy="58521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886093" y="4524756"/>
            <a:ext cx="438912" cy="474631"/>
            <a:chOff x="0" y="0"/>
            <a:chExt cx="585216" cy="63284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1584657" y="4328512"/>
            <a:ext cx="3008233" cy="902827"/>
            <a:chOff x="0" y="0"/>
            <a:chExt cx="4010978" cy="120377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12869323" y="4560475"/>
            <a:ext cx="438912" cy="438912"/>
            <a:chOff x="0" y="0"/>
            <a:chExt cx="585216" cy="58521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869323" y="4560475"/>
            <a:ext cx="438912" cy="438912"/>
            <a:chOff x="0" y="0"/>
            <a:chExt cx="585216" cy="585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869323" y="4524756"/>
            <a:ext cx="438912" cy="474631"/>
            <a:chOff x="0" y="0"/>
            <a:chExt cx="585216" cy="632841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4567887" y="4328512"/>
            <a:ext cx="3008233" cy="902827"/>
            <a:chOff x="0" y="0"/>
            <a:chExt cx="4010978" cy="120377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62" id="162"/>
          <p:cNvGrpSpPr/>
          <p:nvPr/>
        </p:nvGrpSpPr>
        <p:grpSpPr>
          <a:xfrm rot="0">
            <a:off x="15852553" y="4560475"/>
            <a:ext cx="438912" cy="438912"/>
            <a:chOff x="0" y="0"/>
            <a:chExt cx="585216" cy="58521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5852553" y="4560475"/>
            <a:ext cx="438912" cy="438912"/>
            <a:chOff x="0" y="0"/>
            <a:chExt cx="585216" cy="58521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5852553" y="4524756"/>
            <a:ext cx="438912" cy="474631"/>
            <a:chOff x="0" y="0"/>
            <a:chExt cx="585216" cy="632841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749017" y="5206336"/>
            <a:ext cx="4894183" cy="902827"/>
            <a:chOff x="0" y="0"/>
            <a:chExt cx="6525578" cy="120377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967264" y="5218843"/>
            <a:ext cx="4457700" cy="877824"/>
            <a:chOff x="0" y="0"/>
            <a:chExt cx="5943600" cy="117043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67264" y="5190268"/>
            <a:ext cx="4457700" cy="906399"/>
            <a:chOff x="0" y="0"/>
            <a:chExt cx="5943600" cy="120853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 REMEDIES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5618197" y="5206336"/>
            <a:ext cx="3008233" cy="902827"/>
            <a:chOff x="0" y="0"/>
            <a:chExt cx="4010978" cy="120377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78" id="178"/>
          <p:cNvGrpSpPr/>
          <p:nvPr/>
        </p:nvGrpSpPr>
        <p:grpSpPr>
          <a:xfrm rot="0">
            <a:off x="6902863" y="5438299"/>
            <a:ext cx="438912" cy="438912"/>
            <a:chOff x="0" y="0"/>
            <a:chExt cx="585216" cy="58521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6902863" y="5438299"/>
            <a:ext cx="438912" cy="438912"/>
            <a:chOff x="0" y="0"/>
            <a:chExt cx="585216" cy="585216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6902863" y="5402580"/>
            <a:ext cx="438912" cy="474631"/>
            <a:chOff x="0" y="0"/>
            <a:chExt cx="585216" cy="632841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8601427" y="5206336"/>
            <a:ext cx="3008233" cy="902827"/>
            <a:chOff x="0" y="0"/>
            <a:chExt cx="4010978" cy="120377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87" id="187"/>
          <p:cNvGrpSpPr/>
          <p:nvPr/>
        </p:nvGrpSpPr>
        <p:grpSpPr>
          <a:xfrm rot="0">
            <a:off x="9886093" y="5438299"/>
            <a:ext cx="438912" cy="438912"/>
            <a:chOff x="0" y="0"/>
            <a:chExt cx="585216" cy="58521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9886093" y="5438299"/>
            <a:ext cx="438912" cy="438912"/>
            <a:chOff x="0" y="0"/>
            <a:chExt cx="585216" cy="585216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886093" y="5402580"/>
            <a:ext cx="438912" cy="474631"/>
            <a:chOff x="0" y="0"/>
            <a:chExt cx="585216" cy="63284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1584657" y="5206336"/>
            <a:ext cx="3008233" cy="902827"/>
            <a:chOff x="0" y="0"/>
            <a:chExt cx="4010978" cy="120377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96" id="196"/>
          <p:cNvGrpSpPr/>
          <p:nvPr/>
        </p:nvGrpSpPr>
        <p:grpSpPr>
          <a:xfrm rot="0">
            <a:off x="12869323" y="5438299"/>
            <a:ext cx="438912" cy="438912"/>
            <a:chOff x="0" y="0"/>
            <a:chExt cx="585216" cy="585216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2869323" y="5438299"/>
            <a:ext cx="438912" cy="438912"/>
            <a:chOff x="0" y="0"/>
            <a:chExt cx="585216" cy="585216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2869323" y="5402580"/>
            <a:ext cx="438912" cy="474631"/>
            <a:chOff x="0" y="0"/>
            <a:chExt cx="585216" cy="632841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4567887" y="5206336"/>
            <a:ext cx="3008233" cy="902827"/>
            <a:chOff x="0" y="0"/>
            <a:chExt cx="4010978" cy="120377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05" id="205"/>
          <p:cNvGrpSpPr/>
          <p:nvPr/>
        </p:nvGrpSpPr>
        <p:grpSpPr>
          <a:xfrm rot="0">
            <a:off x="15852553" y="5438299"/>
            <a:ext cx="438912" cy="438912"/>
            <a:chOff x="0" y="0"/>
            <a:chExt cx="585216" cy="585216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15852553" y="5438299"/>
            <a:ext cx="438912" cy="438912"/>
            <a:chOff x="0" y="0"/>
            <a:chExt cx="585216" cy="585216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5852553" y="5402580"/>
            <a:ext cx="438912" cy="474631"/>
            <a:chOff x="0" y="0"/>
            <a:chExt cx="585216" cy="632841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749017" y="6084160"/>
            <a:ext cx="4894183" cy="902827"/>
            <a:chOff x="0" y="0"/>
            <a:chExt cx="6525578" cy="120377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14" id="214"/>
          <p:cNvGrpSpPr/>
          <p:nvPr/>
        </p:nvGrpSpPr>
        <p:grpSpPr>
          <a:xfrm rot="0">
            <a:off x="967264" y="6096667"/>
            <a:ext cx="4457700" cy="877824"/>
            <a:chOff x="0" y="0"/>
            <a:chExt cx="5943600" cy="1170432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967264" y="6068092"/>
            <a:ext cx="4457700" cy="906399"/>
            <a:chOff x="0" y="0"/>
            <a:chExt cx="5943600" cy="1208532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MEDICINE TRACKING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5618197" y="6084160"/>
            <a:ext cx="3008233" cy="902827"/>
            <a:chOff x="0" y="0"/>
            <a:chExt cx="4010978" cy="120377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21" id="221"/>
          <p:cNvGrpSpPr/>
          <p:nvPr/>
        </p:nvGrpSpPr>
        <p:grpSpPr>
          <a:xfrm rot="0">
            <a:off x="6902863" y="6316123"/>
            <a:ext cx="438912" cy="438912"/>
            <a:chOff x="0" y="0"/>
            <a:chExt cx="585216" cy="585216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6902863" y="6316123"/>
            <a:ext cx="438912" cy="438912"/>
            <a:chOff x="0" y="0"/>
            <a:chExt cx="585216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6902863" y="6280404"/>
            <a:ext cx="438912" cy="474631"/>
            <a:chOff x="0" y="0"/>
            <a:chExt cx="585216" cy="632841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28" id="228"/>
          <p:cNvGrpSpPr/>
          <p:nvPr/>
        </p:nvGrpSpPr>
        <p:grpSpPr>
          <a:xfrm rot="0">
            <a:off x="8601427" y="6084160"/>
            <a:ext cx="3008233" cy="902827"/>
            <a:chOff x="0" y="0"/>
            <a:chExt cx="4010978" cy="1203770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30" id="230"/>
          <p:cNvGrpSpPr/>
          <p:nvPr/>
        </p:nvGrpSpPr>
        <p:grpSpPr>
          <a:xfrm rot="0">
            <a:off x="11584657" y="6084160"/>
            <a:ext cx="3008233" cy="902827"/>
            <a:chOff x="0" y="0"/>
            <a:chExt cx="4010978" cy="1203770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32" id="232"/>
          <p:cNvGrpSpPr/>
          <p:nvPr/>
        </p:nvGrpSpPr>
        <p:grpSpPr>
          <a:xfrm rot="0">
            <a:off x="12869323" y="6316123"/>
            <a:ext cx="438912" cy="438912"/>
            <a:chOff x="0" y="0"/>
            <a:chExt cx="585216" cy="585216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2869323" y="6316123"/>
            <a:ext cx="438912" cy="438912"/>
            <a:chOff x="0" y="0"/>
            <a:chExt cx="585216" cy="585216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2869323" y="6280404"/>
            <a:ext cx="438912" cy="474631"/>
            <a:chOff x="0" y="0"/>
            <a:chExt cx="585216" cy="63284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14567887" y="6084160"/>
            <a:ext cx="3008233" cy="902827"/>
            <a:chOff x="0" y="0"/>
            <a:chExt cx="4010978" cy="120377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41" id="241"/>
          <p:cNvGrpSpPr/>
          <p:nvPr/>
        </p:nvGrpSpPr>
        <p:grpSpPr>
          <a:xfrm rot="0">
            <a:off x="15852553" y="6316123"/>
            <a:ext cx="438912" cy="438912"/>
            <a:chOff x="0" y="0"/>
            <a:chExt cx="585216" cy="585216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15852553" y="6316123"/>
            <a:ext cx="438912" cy="438912"/>
            <a:chOff x="0" y="0"/>
            <a:chExt cx="585216" cy="585216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15852553" y="6280404"/>
            <a:ext cx="438912" cy="474631"/>
            <a:chOff x="0" y="0"/>
            <a:chExt cx="585216" cy="632841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749017" y="6961984"/>
            <a:ext cx="4894183" cy="902827"/>
            <a:chOff x="0" y="0"/>
            <a:chExt cx="6525578" cy="120377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50" id="250"/>
          <p:cNvGrpSpPr/>
          <p:nvPr/>
        </p:nvGrpSpPr>
        <p:grpSpPr>
          <a:xfrm rot="0">
            <a:off x="967264" y="6974491"/>
            <a:ext cx="4457700" cy="877824"/>
            <a:chOff x="0" y="0"/>
            <a:chExt cx="5943600" cy="1170432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252" id="252"/>
          <p:cNvGrpSpPr/>
          <p:nvPr/>
        </p:nvGrpSpPr>
        <p:grpSpPr>
          <a:xfrm rot="0">
            <a:off x="967264" y="6945916"/>
            <a:ext cx="4457700" cy="906399"/>
            <a:chOff x="0" y="0"/>
            <a:chExt cx="5943600" cy="1208532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BILINGUAL VOICE-GUIDED RECIPES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5618197" y="6961984"/>
            <a:ext cx="3008233" cy="902827"/>
            <a:chOff x="0" y="0"/>
            <a:chExt cx="4010978" cy="1203770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57" id="257"/>
          <p:cNvGrpSpPr/>
          <p:nvPr/>
        </p:nvGrpSpPr>
        <p:grpSpPr>
          <a:xfrm rot="0">
            <a:off x="6902863" y="7193947"/>
            <a:ext cx="438912" cy="438912"/>
            <a:chOff x="0" y="0"/>
            <a:chExt cx="585216" cy="585216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6902863" y="7193947"/>
            <a:ext cx="438912" cy="438912"/>
            <a:chOff x="0" y="0"/>
            <a:chExt cx="585216" cy="585216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61" id="261"/>
          <p:cNvGrpSpPr/>
          <p:nvPr/>
        </p:nvGrpSpPr>
        <p:grpSpPr>
          <a:xfrm rot="0">
            <a:off x="6902863" y="7158228"/>
            <a:ext cx="438912" cy="474631"/>
            <a:chOff x="0" y="0"/>
            <a:chExt cx="585216" cy="632841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63" id="263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64" id="264"/>
          <p:cNvGrpSpPr/>
          <p:nvPr/>
        </p:nvGrpSpPr>
        <p:grpSpPr>
          <a:xfrm rot="0">
            <a:off x="8601427" y="6961984"/>
            <a:ext cx="3008233" cy="902827"/>
            <a:chOff x="0" y="0"/>
            <a:chExt cx="4010978" cy="1203770"/>
          </a:xfrm>
        </p:grpSpPr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66" id="266"/>
          <p:cNvGrpSpPr/>
          <p:nvPr/>
        </p:nvGrpSpPr>
        <p:grpSpPr>
          <a:xfrm rot="0">
            <a:off x="9886093" y="7193947"/>
            <a:ext cx="438912" cy="438912"/>
            <a:chOff x="0" y="0"/>
            <a:chExt cx="585216" cy="585216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268" id="268"/>
          <p:cNvGrpSpPr/>
          <p:nvPr/>
        </p:nvGrpSpPr>
        <p:grpSpPr>
          <a:xfrm rot="0">
            <a:off x="9886093" y="7193947"/>
            <a:ext cx="438912" cy="438912"/>
            <a:chOff x="0" y="0"/>
            <a:chExt cx="585216" cy="58521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9886093" y="7158228"/>
            <a:ext cx="438912" cy="474631"/>
            <a:chOff x="0" y="0"/>
            <a:chExt cx="585216" cy="632841"/>
          </a:xfrm>
        </p:grpSpPr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72" id="272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73" id="273"/>
          <p:cNvGrpSpPr/>
          <p:nvPr/>
        </p:nvGrpSpPr>
        <p:grpSpPr>
          <a:xfrm rot="0">
            <a:off x="11584657" y="6961984"/>
            <a:ext cx="3008233" cy="902827"/>
            <a:chOff x="0" y="0"/>
            <a:chExt cx="4010978" cy="1203770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75" id="275"/>
          <p:cNvGrpSpPr/>
          <p:nvPr/>
        </p:nvGrpSpPr>
        <p:grpSpPr>
          <a:xfrm rot="0">
            <a:off x="12869323" y="7193947"/>
            <a:ext cx="438912" cy="438912"/>
            <a:chOff x="0" y="0"/>
            <a:chExt cx="585216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277" id="277"/>
          <p:cNvGrpSpPr/>
          <p:nvPr/>
        </p:nvGrpSpPr>
        <p:grpSpPr>
          <a:xfrm rot="0">
            <a:off x="12869323" y="7193947"/>
            <a:ext cx="438912" cy="438912"/>
            <a:chOff x="0" y="0"/>
            <a:chExt cx="585216" cy="585216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79" id="279"/>
          <p:cNvGrpSpPr/>
          <p:nvPr/>
        </p:nvGrpSpPr>
        <p:grpSpPr>
          <a:xfrm rot="0">
            <a:off x="12869323" y="7158228"/>
            <a:ext cx="438912" cy="474631"/>
            <a:chOff x="0" y="0"/>
            <a:chExt cx="585216" cy="632841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81" id="281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82" id="282"/>
          <p:cNvGrpSpPr/>
          <p:nvPr/>
        </p:nvGrpSpPr>
        <p:grpSpPr>
          <a:xfrm rot="0">
            <a:off x="14567887" y="6961984"/>
            <a:ext cx="3008233" cy="902827"/>
            <a:chOff x="0" y="0"/>
            <a:chExt cx="4010978" cy="1203770"/>
          </a:xfrm>
        </p:grpSpPr>
        <p:sp>
          <p:nvSpPr>
            <p:cNvPr name="Freeform 283" id="283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84" id="284"/>
          <p:cNvGrpSpPr/>
          <p:nvPr/>
        </p:nvGrpSpPr>
        <p:grpSpPr>
          <a:xfrm rot="0">
            <a:off x="15852553" y="7193947"/>
            <a:ext cx="438912" cy="438912"/>
            <a:chOff x="0" y="0"/>
            <a:chExt cx="585216" cy="585216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5852553" y="7193947"/>
            <a:ext cx="438912" cy="438912"/>
            <a:chOff x="0" y="0"/>
            <a:chExt cx="585216" cy="585216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5852553" y="7158228"/>
            <a:ext cx="438912" cy="474631"/>
            <a:chOff x="0" y="0"/>
            <a:chExt cx="585216" cy="63284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6902863" y="8071771"/>
            <a:ext cx="438912" cy="438912"/>
            <a:chOff x="0" y="0"/>
            <a:chExt cx="585216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293" id="293"/>
          <p:cNvGrpSpPr/>
          <p:nvPr/>
        </p:nvGrpSpPr>
        <p:grpSpPr>
          <a:xfrm rot="0">
            <a:off x="6902863" y="8071771"/>
            <a:ext cx="438912" cy="438912"/>
            <a:chOff x="0" y="0"/>
            <a:chExt cx="585216" cy="585216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6902863" y="8036052"/>
            <a:ext cx="438912" cy="474631"/>
            <a:chOff x="0" y="0"/>
            <a:chExt cx="585216" cy="632841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297" id="297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98" id="298"/>
          <p:cNvGrpSpPr/>
          <p:nvPr/>
        </p:nvGrpSpPr>
        <p:grpSpPr>
          <a:xfrm rot="0">
            <a:off x="9886093" y="8071771"/>
            <a:ext cx="438912" cy="438912"/>
            <a:chOff x="0" y="0"/>
            <a:chExt cx="585216" cy="585216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9886093" y="8071771"/>
            <a:ext cx="438912" cy="438912"/>
            <a:chOff x="0" y="0"/>
            <a:chExt cx="585216" cy="585216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9886093" y="8036052"/>
            <a:ext cx="438912" cy="474631"/>
            <a:chOff x="0" y="0"/>
            <a:chExt cx="585216" cy="63284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1584657" y="7839808"/>
            <a:ext cx="3008233" cy="902827"/>
            <a:chOff x="0" y="0"/>
            <a:chExt cx="4010978" cy="1203770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07" id="307"/>
          <p:cNvGrpSpPr/>
          <p:nvPr/>
        </p:nvGrpSpPr>
        <p:grpSpPr>
          <a:xfrm rot="0">
            <a:off x="12869323" y="8071771"/>
            <a:ext cx="438912" cy="438912"/>
            <a:chOff x="0" y="0"/>
            <a:chExt cx="585216" cy="585216"/>
          </a:xfrm>
        </p:grpSpPr>
        <p:sp>
          <p:nvSpPr>
            <p:cNvPr name="Freeform 308" id="30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309" id="309"/>
          <p:cNvGrpSpPr/>
          <p:nvPr/>
        </p:nvGrpSpPr>
        <p:grpSpPr>
          <a:xfrm rot="0">
            <a:off x="12869323" y="8071771"/>
            <a:ext cx="438912" cy="438912"/>
            <a:chOff x="0" y="0"/>
            <a:chExt cx="585216" cy="585216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12869323" y="8036052"/>
            <a:ext cx="438912" cy="474631"/>
            <a:chOff x="0" y="0"/>
            <a:chExt cx="585216" cy="632841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14" id="314"/>
          <p:cNvGrpSpPr/>
          <p:nvPr/>
        </p:nvGrpSpPr>
        <p:grpSpPr>
          <a:xfrm rot="0">
            <a:off x="749017" y="7839808"/>
            <a:ext cx="4894183" cy="902827"/>
            <a:chOff x="0" y="0"/>
            <a:chExt cx="6525578" cy="1203770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16" id="316"/>
          <p:cNvGrpSpPr/>
          <p:nvPr/>
        </p:nvGrpSpPr>
        <p:grpSpPr>
          <a:xfrm rot="0">
            <a:off x="967264" y="7852315"/>
            <a:ext cx="4457700" cy="877824"/>
            <a:chOff x="0" y="0"/>
            <a:chExt cx="5943600" cy="1170432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318" id="318"/>
          <p:cNvGrpSpPr/>
          <p:nvPr/>
        </p:nvGrpSpPr>
        <p:grpSpPr>
          <a:xfrm rot="0">
            <a:off x="967264" y="7823740"/>
            <a:ext cx="4457700" cy="906399"/>
            <a:chOff x="0" y="0"/>
            <a:chExt cx="5943600" cy="1208532"/>
          </a:xfrm>
        </p:grpSpPr>
        <p:sp>
          <p:nvSpPr>
            <p:cNvPr name="Freeform 319" id="319"/>
            <p:cNvSpPr/>
            <p:nvPr/>
          </p:nvSpPr>
          <p:spPr>
            <a:xfrm flipH="false" flipV="false" rot="0">
              <a:off x="0" y="0"/>
              <a:ext cx="5943600" cy="1208532"/>
            </a:xfrm>
            <a:custGeom>
              <a:avLst/>
              <a:gdLst/>
              <a:ahLst/>
              <a:cxnLst/>
              <a:rect r="r" b="b" t="t" l="l"/>
              <a:pathLst>
                <a:path h="12085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2"/>
                  </a:lnTo>
                  <a:lnTo>
                    <a:pt x="0" y="12085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8"/>
              </a:stretch>
            </a:blipFill>
          </p:spPr>
        </p:sp>
        <p:sp>
          <p:nvSpPr>
            <p:cNvPr name="TextBox 320" id="320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7-DAY DISEASE-AWARE MEAL PLANNER</a:t>
              </a:r>
            </a:p>
          </p:txBody>
        </p:sp>
      </p:grpSp>
      <p:grpSp>
        <p:nvGrpSpPr>
          <p:cNvPr name="Group 321" id="321"/>
          <p:cNvGrpSpPr/>
          <p:nvPr/>
        </p:nvGrpSpPr>
        <p:grpSpPr>
          <a:xfrm rot="0">
            <a:off x="5618197" y="7839808"/>
            <a:ext cx="3008233" cy="902827"/>
            <a:chOff x="0" y="0"/>
            <a:chExt cx="4010978" cy="1203770"/>
          </a:xfrm>
        </p:grpSpPr>
        <p:sp>
          <p:nvSpPr>
            <p:cNvPr name="Freeform 322" id="322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3" id="323"/>
          <p:cNvGrpSpPr/>
          <p:nvPr/>
        </p:nvGrpSpPr>
        <p:grpSpPr>
          <a:xfrm rot="0">
            <a:off x="8601427" y="7839808"/>
            <a:ext cx="3008233" cy="902827"/>
            <a:chOff x="0" y="0"/>
            <a:chExt cx="4010978" cy="1203770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5" id="325"/>
          <p:cNvGrpSpPr/>
          <p:nvPr/>
        </p:nvGrpSpPr>
        <p:grpSpPr>
          <a:xfrm rot="0">
            <a:off x="14567887" y="7839808"/>
            <a:ext cx="3008233" cy="902827"/>
            <a:chOff x="0" y="0"/>
            <a:chExt cx="4010978" cy="1203770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0" y="0"/>
              <a:ext cx="4010914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0914">
                  <a:moveTo>
                    <a:pt x="0" y="0"/>
                  </a:moveTo>
                  <a:lnTo>
                    <a:pt x="4010914" y="0"/>
                  </a:lnTo>
                  <a:lnTo>
                    <a:pt x="4010914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7" id="327"/>
          <p:cNvGrpSpPr/>
          <p:nvPr/>
        </p:nvGrpSpPr>
        <p:grpSpPr>
          <a:xfrm rot="0">
            <a:off x="15852553" y="8071771"/>
            <a:ext cx="438912" cy="438912"/>
            <a:chOff x="0" y="0"/>
            <a:chExt cx="585216" cy="585216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29" id="329"/>
          <p:cNvGrpSpPr/>
          <p:nvPr/>
        </p:nvGrpSpPr>
        <p:grpSpPr>
          <a:xfrm rot="0">
            <a:off x="15852553" y="8071771"/>
            <a:ext cx="438912" cy="438912"/>
            <a:chOff x="0" y="0"/>
            <a:chExt cx="585216" cy="585216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31" id="331"/>
          <p:cNvGrpSpPr/>
          <p:nvPr/>
        </p:nvGrpSpPr>
        <p:grpSpPr>
          <a:xfrm rot="0">
            <a:off x="15852553" y="8036052"/>
            <a:ext cx="438912" cy="474631"/>
            <a:chOff x="0" y="0"/>
            <a:chExt cx="585216" cy="632841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33" id="333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34" id="334"/>
          <p:cNvGrpSpPr/>
          <p:nvPr/>
        </p:nvGrpSpPr>
        <p:grpSpPr>
          <a:xfrm rot="0">
            <a:off x="9884283" y="6322886"/>
            <a:ext cx="438912" cy="438912"/>
            <a:chOff x="0" y="0"/>
            <a:chExt cx="585216" cy="585216"/>
          </a:xfrm>
        </p:grpSpPr>
        <p:sp>
          <p:nvSpPr>
            <p:cNvPr name="Freeform 335" id="33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36" id="336"/>
          <p:cNvGrpSpPr/>
          <p:nvPr/>
        </p:nvGrpSpPr>
        <p:grpSpPr>
          <a:xfrm rot="0">
            <a:off x="9884283" y="6322886"/>
            <a:ext cx="438912" cy="438912"/>
            <a:chOff x="0" y="0"/>
            <a:chExt cx="585216" cy="585216"/>
          </a:xfrm>
        </p:grpSpPr>
        <p:sp>
          <p:nvSpPr>
            <p:cNvPr name="Freeform 337" id="33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38" id="338"/>
          <p:cNvGrpSpPr/>
          <p:nvPr/>
        </p:nvGrpSpPr>
        <p:grpSpPr>
          <a:xfrm rot="0">
            <a:off x="9884283" y="6287167"/>
            <a:ext cx="438912" cy="474631"/>
            <a:chOff x="0" y="0"/>
            <a:chExt cx="585216" cy="632841"/>
          </a:xfrm>
        </p:grpSpPr>
        <p:sp>
          <p:nvSpPr>
            <p:cNvPr name="Freeform 339" id="339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40" id="340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sp>
        <p:nvSpPr>
          <p:cNvPr name="TextBox 341" id="341"/>
          <p:cNvSpPr txBox="true"/>
          <p:nvPr/>
        </p:nvSpPr>
        <p:spPr>
          <a:xfrm rot="0">
            <a:off x="9458754" y="4598975"/>
            <a:ext cx="2997517" cy="30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(premium)</a:t>
            </a:r>
          </a:p>
        </p:txBody>
      </p:sp>
      <p:grpSp>
        <p:nvGrpSpPr>
          <p:cNvPr name="Group 342" id="342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343" id="343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335" r="0" b="-404333"/>
              </a:stretch>
            </a:blipFill>
          </p:spPr>
        </p:sp>
      </p:grpSp>
      <p:grpSp>
        <p:nvGrpSpPr>
          <p:cNvPr name="Group 344" id="344"/>
          <p:cNvGrpSpPr/>
          <p:nvPr/>
        </p:nvGrpSpPr>
        <p:grpSpPr>
          <a:xfrm rot="0">
            <a:off x="754380" y="9689497"/>
            <a:ext cx="9601200" cy="432911"/>
            <a:chOff x="0" y="0"/>
            <a:chExt cx="12801600" cy="577215"/>
          </a:xfrm>
        </p:grpSpPr>
        <p:sp>
          <p:nvSpPr>
            <p:cNvPr name="Freeform 345" id="345"/>
            <p:cNvSpPr/>
            <p:nvPr/>
          </p:nvSpPr>
          <p:spPr>
            <a:xfrm flipH="false" flipV="false" rot="0">
              <a:off x="0" y="0"/>
              <a:ext cx="12801600" cy="577215"/>
            </a:xfrm>
            <a:custGeom>
              <a:avLst/>
              <a:gdLst/>
              <a:ahLst/>
              <a:cxnLst/>
              <a:rect r="r" b="b" t="t" l="l"/>
              <a:pathLst>
                <a:path h="577215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143" r="0" b="-382143"/>
              </a:stretch>
            </a:blipFill>
          </p:spPr>
        </p:sp>
        <p:sp>
          <p:nvSpPr>
            <p:cNvPr name="TextBox 346" id="346"/>
            <p:cNvSpPr txBox="true"/>
            <p:nvPr/>
          </p:nvSpPr>
          <p:spPr>
            <a:xfrm>
              <a:off x="0" y="-28575"/>
              <a:ext cx="128016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8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347" id="347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96" t="0" r="-14195" b="0"/>
              </a:stretch>
            </a:blipFill>
          </p:spPr>
        </p:sp>
      </p:grpSp>
      <p:grpSp>
        <p:nvGrpSpPr>
          <p:cNvPr name="Group 349" id="349"/>
          <p:cNvGrpSpPr/>
          <p:nvPr/>
        </p:nvGrpSpPr>
        <p:grpSpPr>
          <a:xfrm rot="0">
            <a:off x="16843248" y="9689497"/>
            <a:ext cx="822960" cy="432911"/>
            <a:chOff x="0" y="0"/>
            <a:chExt cx="1097280" cy="577215"/>
          </a:xfrm>
        </p:grpSpPr>
        <p:sp>
          <p:nvSpPr>
            <p:cNvPr name="Freeform 350" id="350"/>
            <p:cNvSpPr/>
            <p:nvPr/>
          </p:nvSpPr>
          <p:spPr>
            <a:xfrm flipH="false" flipV="false" rot="0">
              <a:off x="0" y="0"/>
              <a:ext cx="1097280" cy="577215"/>
            </a:xfrm>
            <a:custGeom>
              <a:avLst/>
              <a:gdLst/>
              <a:ahLst/>
              <a:cxnLst/>
              <a:rect r="r" b="b" t="t" l="l"/>
              <a:pathLst>
                <a:path h="577215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493" t="0" r="-17493" b="0"/>
              </a:stretch>
            </a:blipFill>
          </p:spPr>
        </p:sp>
        <p:sp>
          <p:nvSpPr>
            <p:cNvPr name="TextBox 351" id="351"/>
            <p:cNvSpPr txBox="true"/>
            <p:nvPr/>
          </p:nvSpPr>
          <p:spPr>
            <a:xfrm>
              <a:off x="0" y="-28575"/>
              <a:ext cx="109728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352" id="352"/>
          <p:cNvGrpSpPr/>
          <p:nvPr/>
        </p:nvGrpSpPr>
        <p:grpSpPr>
          <a:xfrm rot="0">
            <a:off x="756171" y="8731929"/>
            <a:ext cx="4894183" cy="902827"/>
            <a:chOff x="0" y="0"/>
            <a:chExt cx="6525578" cy="1203770"/>
          </a:xfrm>
        </p:grpSpPr>
        <p:sp>
          <p:nvSpPr>
            <p:cNvPr name="Freeform 353" id="353"/>
            <p:cNvSpPr/>
            <p:nvPr/>
          </p:nvSpPr>
          <p:spPr>
            <a:xfrm flipH="false" flipV="false" rot="0">
              <a:off x="0" y="0"/>
              <a:ext cx="65256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6525641">
                  <a:moveTo>
                    <a:pt x="0" y="0"/>
                  </a:moveTo>
                  <a:lnTo>
                    <a:pt x="6525641" y="0"/>
                  </a:lnTo>
                  <a:lnTo>
                    <a:pt x="65256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54" id="354"/>
          <p:cNvGrpSpPr/>
          <p:nvPr/>
        </p:nvGrpSpPr>
        <p:grpSpPr>
          <a:xfrm rot="0">
            <a:off x="974407" y="8744426"/>
            <a:ext cx="4457700" cy="877824"/>
            <a:chOff x="0" y="0"/>
            <a:chExt cx="5943600" cy="1170432"/>
          </a:xfrm>
        </p:grpSpPr>
        <p:sp>
          <p:nvSpPr>
            <p:cNvPr name="Freeform 355" id="355"/>
            <p:cNvSpPr/>
            <p:nvPr/>
          </p:nvSpPr>
          <p:spPr>
            <a:xfrm flipH="false" flipV="false" rot="0">
              <a:off x="0" y="0"/>
              <a:ext cx="594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79" r="0" b="-48878"/>
              </a:stretch>
            </a:blipFill>
          </p:spPr>
        </p:sp>
      </p:grpSp>
      <p:grpSp>
        <p:nvGrpSpPr>
          <p:cNvPr name="Group 356" id="356"/>
          <p:cNvGrpSpPr/>
          <p:nvPr/>
        </p:nvGrpSpPr>
        <p:grpSpPr>
          <a:xfrm rot="0">
            <a:off x="974407" y="8715851"/>
            <a:ext cx="4457700" cy="906399"/>
            <a:chOff x="0" y="0"/>
            <a:chExt cx="5943600" cy="1208532"/>
          </a:xfrm>
        </p:grpSpPr>
        <p:sp>
          <p:nvSpPr>
            <p:cNvPr name="Freeform 357" id="357"/>
            <p:cNvSpPr/>
            <p:nvPr/>
          </p:nvSpPr>
          <p:spPr>
            <a:xfrm flipH="false" flipV="false" rot="0">
              <a:off x="0" y="0"/>
              <a:ext cx="5943600" cy="1208533"/>
            </a:xfrm>
            <a:custGeom>
              <a:avLst/>
              <a:gdLst/>
              <a:ahLst/>
              <a:cxnLst/>
              <a:rect r="r" b="b" t="t" l="l"/>
              <a:pathLst>
                <a:path h="1208533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8533"/>
                  </a:lnTo>
                  <a:lnTo>
                    <a:pt x="0" y="1208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8" r="0" b="-45827"/>
              </a:stretch>
            </a:blipFill>
          </p:spPr>
        </p:sp>
        <p:sp>
          <p:nvSpPr>
            <p:cNvPr name="TextBox 358" id="358"/>
            <p:cNvSpPr txBox="true"/>
            <p:nvPr/>
          </p:nvSpPr>
          <p:spPr>
            <a:xfrm>
              <a:off x="0" y="-38100"/>
              <a:ext cx="594360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9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 SURGICAL RECOVERY-DIET</a:t>
              </a:r>
            </a:p>
          </p:txBody>
        </p:sp>
      </p:grpSp>
      <p:grpSp>
        <p:nvGrpSpPr>
          <p:cNvPr name="Group 359" id="359"/>
          <p:cNvGrpSpPr/>
          <p:nvPr/>
        </p:nvGrpSpPr>
        <p:grpSpPr>
          <a:xfrm rot="0">
            <a:off x="5625351" y="8731929"/>
            <a:ext cx="3008233" cy="902827"/>
            <a:chOff x="0" y="0"/>
            <a:chExt cx="4010978" cy="1203770"/>
          </a:xfrm>
        </p:grpSpPr>
        <p:sp>
          <p:nvSpPr>
            <p:cNvPr name="Freeform 360" id="360"/>
            <p:cNvSpPr/>
            <p:nvPr/>
          </p:nvSpPr>
          <p:spPr>
            <a:xfrm flipH="false" flipV="false" rot="0">
              <a:off x="0" y="0"/>
              <a:ext cx="40110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1041">
                  <a:moveTo>
                    <a:pt x="0" y="0"/>
                  </a:moveTo>
                  <a:lnTo>
                    <a:pt x="4011041" y="0"/>
                  </a:lnTo>
                  <a:lnTo>
                    <a:pt x="40110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61" id="361"/>
          <p:cNvGrpSpPr/>
          <p:nvPr/>
        </p:nvGrpSpPr>
        <p:grpSpPr>
          <a:xfrm rot="0">
            <a:off x="8608581" y="8731929"/>
            <a:ext cx="3008233" cy="902827"/>
            <a:chOff x="0" y="0"/>
            <a:chExt cx="4010978" cy="1203770"/>
          </a:xfrm>
        </p:grpSpPr>
        <p:sp>
          <p:nvSpPr>
            <p:cNvPr name="Freeform 362" id="362"/>
            <p:cNvSpPr/>
            <p:nvPr/>
          </p:nvSpPr>
          <p:spPr>
            <a:xfrm flipH="false" flipV="false" rot="0">
              <a:off x="0" y="0"/>
              <a:ext cx="40110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1041">
                  <a:moveTo>
                    <a:pt x="0" y="0"/>
                  </a:moveTo>
                  <a:lnTo>
                    <a:pt x="4011041" y="0"/>
                  </a:lnTo>
                  <a:lnTo>
                    <a:pt x="40110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63" id="363"/>
          <p:cNvGrpSpPr/>
          <p:nvPr/>
        </p:nvGrpSpPr>
        <p:grpSpPr>
          <a:xfrm rot="0">
            <a:off x="11591811" y="8731929"/>
            <a:ext cx="3008233" cy="902827"/>
            <a:chOff x="0" y="0"/>
            <a:chExt cx="4010978" cy="1203770"/>
          </a:xfrm>
        </p:grpSpPr>
        <p:sp>
          <p:nvSpPr>
            <p:cNvPr name="Freeform 364" id="364"/>
            <p:cNvSpPr/>
            <p:nvPr/>
          </p:nvSpPr>
          <p:spPr>
            <a:xfrm flipH="false" flipV="false" rot="0">
              <a:off x="0" y="0"/>
              <a:ext cx="40110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1041">
                  <a:moveTo>
                    <a:pt x="0" y="0"/>
                  </a:moveTo>
                  <a:lnTo>
                    <a:pt x="4011041" y="0"/>
                  </a:lnTo>
                  <a:lnTo>
                    <a:pt x="40110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F1F7F6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65" id="365"/>
          <p:cNvGrpSpPr/>
          <p:nvPr/>
        </p:nvGrpSpPr>
        <p:grpSpPr>
          <a:xfrm rot="0">
            <a:off x="14575041" y="8731929"/>
            <a:ext cx="3008233" cy="902827"/>
            <a:chOff x="0" y="0"/>
            <a:chExt cx="4010978" cy="1203770"/>
          </a:xfrm>
        </p:grpSpPr>
        <p:sp>
          <p:nvSpPr>
            <p:cNvPr name="Freeform 366" id="366"/>
            <p:cNvSpPr/>
            <p:nvPr/>
          </p:nvSpPr>
          <p:spPr>
            <a:xfrm flipH="false" flipV="false" rot="0">
              <a:off x="0" y="0"/>
              <a:ext cx="4011041" cy="1203833"/>
            </a:xfrm>
            <a:custGeom>
              <a:avLst/>
              <a:gdLst/>
              <a:ahLst/>
              <a:cxnLst/>
              <a:rect r="r" b="b" t="t" l="l"/>
              <a:pathLst>
                <a:path h="1203833" w="4011041">
                  <a:moveTo>
                    <a:pt x="0" y="0"/>
                  </a:moveTo>
                  <a:lnTo>
                    <a:pt x="4011041" y="0"/>
                  </a:lnTo>
                  <a:lnTo>
                    <a:pt x="4011041" y="1203833"/>
                  </a:lnTo>
                  <a:lnTo>
                    <a:pt x="0" y="1203833"/>
                  </a:lnTo>
                  <a:close/>
                </a:path>
              </a:pathLst>
            </a:custGeom>
            <a:solidFill>
              <a:srgbClr val="E6F4F2"/>
            </a:solidFill>
            <a:ln w="14288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67" id="367"/>
          <p:cNvGrpSpPr/>
          <p:nvPr/>
        </p:nvGrpSpPr>
        <p:grpSpPr>
          <a:xfrm rot="0">
            <a:off x="12868180" y="8946832"/>
            <a:ext cx="438912" cy="438912"/>
            <a:chOff x="0" y="0"/>
            <a:chExt cx="585216" cy="585216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369" id="369"/>
          <p:cNvGrpSpPr/>
          <p:nvPr/>
        </p:nvGrpSpPr>
        <p:grpSpPr>
          <a:xfrm rot="0">
            <a:off x="12868180" y="8946832"/>
            <a:ext cx="438912" cy="438912"/>
            <a:chOff x="0" y="0"/>
            <a:chExt cx="585216" cy="585216"/>
          </a:xfrm>
        </p:grpSpPr>
        <p:sp>
          <p:nvSpPr>
            <p:cNvPr name="Freeform 370" id="37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71" id="371"/>
          <p:cNvGrpSpPr/>
          <p:nvPr/>
        </p:nvGrpSpPr>
        <p:grpSpPr>
          <a:xfrm rot="0">
            <a:off x="12868180" y="8911114"/>
            <a:ext cx="438912" cy="474631"/>
            <a:chOff x="0" y="0"/>
            <a:chExt cx="585216" cy="632841"/>
          </a:xfrm>
        </p:grpSpPr>
        <p:sp>
          <p:nvSpPr>
            <p:cNvPr name="Freeform 372" id="372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73" id="373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74" id="374"/>
          <p:cNvGrpSpPr/>
          <p:nvPr/>
        </p:nvGrpSpPr>
        <p:grpSpPr>
          <a:xfrm rot="0">
            <a:off x="9886093" y="8963882"/>
            <a:ext cx="438912" cy="438912"/>
            <a:chOff x="0" y="0"/>
            <a:chExt cx="585216" cy="585216"/>
          </a:xfrm>
        </p:grpSpPr>
        <p:sp>
          <p:nvSpPr>
            <p:cNvPr name="Freeform 375" id="37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376" id="376"/>
          <p:cNvGrpSpPr/>
          <p:nvPr/>
        </p:nvGrpSpPr>
        <p:grpSpPr>
          <a:xfrm rot="0">
            <a:off x="9886093" y="8963882"/>
            <a:ext cx="438912" cy="438912"/>
            <a:chOff x="0" y="0"/>
            <a:chExt cx="585216" cy="585216"/>
          </a:xfrm>
        </p:grpSpPr>
        <p:sp>
          <p:nvSpPr>
            <p:cNvPr name="Freeform 377" id="37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78" id="378"/>
          <p:cNvGrpSpPr/>
          <p:nvPr/>
        </p:nvGrpSpPr>
        <p:grpSpPr>
          <a:xfrm rot="0">
            <a:off x="9886093" y="8928164"/>
            <a:ext cx="438912" cy="474631"/>
            <a:chOff x="0" y="0"/>
            <a:chExt cx="585216" cy="632841"/>
          </a:xfrm>
        </p:grpSpPr>
        <p:sp>
          <p:nvSpPr>
            <p:cNvPr name="Freeform 379" id="379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80" id="380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81" id="381"/>
          <p:cNvGrpSpPr/>
          <p:nvPr/>
        </p:nvGrpSpPr>
        <p:grpSpPr>
          <a:xfrm rot="0">
            <a:off x="6902863" y="9004649"/>
            <a:ext cx="438912" cy="438912"/>
            <a:chOff x="0" y="0"/>
            <a:chExt cx="585216" cy="585216"/>
          </a:xfrm>
        </p:grpSpPr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383" id="383"/>
          <p:cNvGrpSpPr/>
          <p:nvPr/>
        </p:nvGrpSpPr>
        <p:grpSpPr>
          <a:xfrm rot="0">
            <a:off x="6902863" y="9004649"/>
            <a:ext cx="438912" cy="438912"/>
            <a:chOff x="0" y="0"/>
            <a:chExt cx="585216" cy="585216"/>
          </a:xfrm>
        </p:grpSpPr>
        <p:sp>
          <p:nvSpPr>
            <p:cNvPr name="Freeform 384" id="38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85" id="385"/>
          <p:cNvGrpSpPr/>
          <p:nvPr/>
        </p:nvGrpSpPr>
        <p:grpSpPr>
          <a:xfrm rot="0">
            <a:off x="6902863" y="8968930"/>
            <a:ext cx="438912" cy="474631"/>
            <a:chOff x="0" y="0"/>
            <a:chExt cx="585216" cy="632841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87" id="387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88" id="388"/>
          <p:cNvGrpSpPr/>
          <p:nvPr/>
        </p:nvGrpSpPr>
        <p:grpSpPr>
          <a:xfrm rot="0">
            <a:off x="15852553" y="8946832"/>
            <a:ext cx="438912" cy="438912"/>
            <a:chOff x="0" y="0"/>
            <a:chExt cx="585216" cy="585216"/>
          </a:xfrm>
        </p:grpSpPr>
        <p:sp>
          <p:nvSpPr>
            <p:cNvPr name="Freeform 389" id="38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90" id="390"/>
          <p:cNvGrpSpPr/>
          <p:nvPr/>
        </p:nvGrpSpPr>
        <p:grpSpPr>
          <a:xfrm rot="0">
            <a:off x="15852553" y="8946832"/>
            <a:ext cx="438912" cy="438912"/>
            <a:chOff x="0" y="0"/>
            <a:chExt cx="585216" cy="585216"/>
          </a:xfrm>
        </p:grpSpPr>
        <p:sp>
          <p:nvSpPr>
            <p:cNvPr name="Freeform 391" id="39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92" id="392"/>
          <p:cNvGrpSpPr/>
          <p:nvPr/>
        </p:nvGrpSpPr>
        <p:grpSpPr>
          <a:xfrm rot="0">
            <a:off x="15852553" y="8911114"/>
            <a:ext cx="438912" cy="474631"/>
            <a:chOff x="0" y="0"/>
            <a:chExt cx="585216" cy="632841"/>
          </a:xfrm>
        </p:grpSpPr>
        <p:sp>
          <p:nvSpPr>
            <p:cNvPr name="Freeform 393" id="393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394" id="394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95" id="395"/>
          <p:cNvGrpSpPr/>
          <p:nvPr/>
        </p:nvGrpSpPr>
        <p:grpSpPr>
          <a:xfrm rot="0">
            <a:off x="9878949" y="8069008"/>
            <a:ext cx="438912" cy="438912"/>
            <a:chOff x="0" y="0"/>
            <a:chExt cx="585216" cy="585216"/>
          </a:xfrm>
        </p:grpSpPr>
        <p:sp>
          <p:nvSpPr>
            <p:cNvPr name="Freeform 396" id="39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397" id="397"/>
          <p:cNvGrpSpPr/>
          <p:nvPr/>
        </p:nvGrpSpPr>
        <p:grpSpPr>
          <a:xfrm rot="0">
            <a:off x="9878949" y="8069008"/>
            <a:ext cx="438912" cy="438912"/>
            <a:chOff x="0" y="0"/>
            <a:chExt cx="585216" cy="585216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399" id="399"/>
          <p:cNvGrpSpPr/>
          <p:nvPr/>
        </p:nvGrpSpPr>
        <p:grpSpPr>
          <a:xfrm rot="0">
            <a:off x="9878949" y="8033290"/>
            <a:ext cx="438912" cy="474631"/>
            <a:chOff x="0" y="0"/>
            <a:chExt cx="585216" cy="632841"/>
          </a:xfrm>
        </p:grpSpPr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401" id="401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402" id="402"/>
          <p:cNvGrpSpPr/>
          <p:nvPr/>
        </p:nvGrpSpPr>
        <p:grpSpPr>
          <a:xfrm rot="0">
            <a:off x="6902863" y="8031670"/>
            <a:ext cx="438912" cy="438912"/>
            <a:chOff x="0" y="0"/>
            <a:chExt cx="585216" cy="585216"/>
          </a:xfrm>
        </p:grpSpPr>
        <p:sp>
          <p:nvSpPr>
            <p:cNvPr name="Freeform 403" id="403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4E3E0"/>
            </a:solidFill>
          </p:spPr>
        </p:sp>
      </p:grpSp>
      <p:grpSp>
        <p:nvGrpSpPr>
          <p:cNvPr name="Group 404" id="404"/>
          <p:cNvGrpSpPr/>
          <p:nvPr/>
        </p:nvGrpSpPr>
        <p:grpSpPr>
          <a:xfrm rot="0">
            <a:off x="6902863" y="8031670"/>
            <a:ext cx="438912" cy="438912"/>
            <a:chOff x="0" y="0"/>
            <a:chExt cx="585216" cy="585216"/>
          </a:xfrm>
        </p:grpSpPr>
        <p:sp>
          <p:nvSpPr>
            <p:cNvPr name="Freeform 405" id="40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406" id="406"/>
          <p:cNvGrpSpPr/>
          <p:nvPr/>
        </p:nvGrpSpPr>
        <p:grpSpPr>
          <a:xfrm rot="0">
            <a:off x="6902863" y="7995952"/>
            <a:ext cx="438912" cy="474631"/>
            <a:chOff x="0" y="0"/>
            <a:chExt cx="585216" cy="632841"/>
          </a:xfrm>
        </p:grpSpPr>
        <p:sp>
          <p:nvSpPr>
            <p:cNvPr name="Freeform 407" id="407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408" id="408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14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409" id="409"/>
          <p:cNvGrpSpPr/>
          <p:nvPr/>
        </p:nvGrpSpPr>
        <p:grpSpPr>
          <a:xfrm rot="0">
            <a:off x="9916668" y="2804827"/>
            <a:ext cx="438912" cy="438912"/>
            <a:chOff x="0" y="0"/>
            <a:chExt cx="585216" cy="585216"/>
          </a:xfrm>
        </p:grpSpPr>
        <p:sp>
          <p:nvSpPr>
            <p:cNvPr name="Freeform 410" id="4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11" id="411"/>
          <p:cNvGrpSpPr/>
          <p:nvPr/>
        </p:nvGrpSpPr>
        <p:grpSpPr>
          <a:xfrm rot="0">
            <a:off x="9916668" y="2804827"/>
            <a:ext cx="438912" cy="438912"/>
            <a:chOff x="0" y="0"/>
            <a:chExt cx="585216" cy="585216"/>
          </a:xfrm>
        </p:grpSpPr>
        <p:sp>
          <p:nvSpPr>
            <p:cNvPr name="Freeform 412" id="41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1" t="0" r="-78394" b="0"/>
              </a:stretch>
            </a:blipFill>
          </p:spPr>
        </p:sp>
      </p:grpSp>
      <p:grpSp>
        <p:nvGrpSpPr>
          <p:cNvPr name="Group 413" id="413"/>
          <p:cNvGrpSpPr/>
          <p:nvPr/>
        </p:nvGrpSpPr>
        <p:grpSpPr>
          <a:xfrm rot="0">
            <a:off x="9916668" y="2769108"/>
            <a:ext cx="438912" cy="474631"/>
            <a:chOff x="0" y="0"/>
            <a:chExt cx="585216" cy="632841"/>
          </a:xfrm>
        </p:grpSpPr>
        <p:sp>
          <p:nvSpPr>
            <p:cNvPr name="Freeform 414" id="414"/>
            <p:cNvSpPr/>
            <p:nvPr/>
          </p:nvSpPr>
          <p:spPr>
            <a:xfrm flipH="false" flipV="false" rot="0">
              <a:off x="0" y="0"/>
              <a:ext cx="585216" cy="632841"/>
            </a:xfrm>
            <a:custGeom>
              <a:avLst/>
              <a:gdLst/>
              <a:ahLst/>
              <a:cxnLst/>
              <a:rect r="r" b="b" t="t" l="l"/>
              <a:pathLst>
                <a:path h="632841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632841"/>
                  </a:lnTo>
                  <a:lnTo>
                    <a:pt x="0" y="632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744" t="0" r="-88744" b="0"/>
              </a:stretch>
            </a:blipFill>
          </p:spPr>
        </p:sp>
        <p:sp>
          <p:nvSpPr>
            <p:cNvPr name="TextBox 415" id="415"/>
            <p:cNvSpPr txBox="true"/>
            <p:nvPr/>
          </p:nvSpPr>
          <p:spPr>
            <a:xfrm>
              <a:off x="0" y="-47625"/>
              <a:ext cx="585216" cy="6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88868" y="-192024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645920" y="809244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" y="1840888"/>
            <a:ext cx="13716000" cy="548640"/>
            <a:chOff x="0" y="0"/>
            <a:chExt cx="182880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25">
                  <a:solidFill>
                    <a:srgbClr val="6FD5C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8206" y="3017520"/>
            <a:ext cx="14991588" cy="4251960"/>
            <a:chOff x="0" y="0"/>
            <a:chExt cx="19988784" cy="5669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88785" cy="5669280"/>
            </a:xfrm>
            <a:custGeom>
              <a:avLst/>
              <a:gdLst/>
              <a:ahLst/>
              <a:cxnLst/>
              <a:rect r="r" b="b" t="t" l="l"/>
              <a:pathLst>
                <a:path h="5669280" w="1998878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805904" y="0"/>
                  </a:lnTo>
                  <a:cubicBezTo>
                    <a:pt x="19906869" y="0"/>
                    <a:pt x="19988785" y="81915"/>
                    <a:pt x="19988785" y="182880"/>
                  </a:cubicBezTo>
                  <a:lnTo>
                    <a:pt x="19988785" y="5486400"/>
                  </a:lnTo>
                  <a:cubicBezTo>
                    <a:pt x="19988785" y="5587365"/>
                    <a:pt x="19906869" y="5669280"/>
                    <a:pt x="19805904" y="5669280"/>
                  </a:cubicBezTo>
                  <a:lnTo>
                    <a:pt x="182880" y="5669280"/>
                  </a:lnTo>
                  <a:cubicBezTo>
                    <a:pt x="81915" y="5669280"/>
                    <a:pt x="0" y="5587365"/>
                    <a:pt x="0" y="548640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34006" y="3360420"/>
            <a:ext cx="13619988" cy="3566160"/>
            <a:chOff x="0" y="0"/>
            <a:chExt cx="18159984" cy="475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59985" cy="4754880"/>
            </a:xfrm>
            <a:custGeom>
              <a:avLst/>
              <a:gdLst/>
              <a:ahLst/>
              <a:cxnLst/>
              <a:rect r="r" b="b" t="t" l="l"/>
              <a:pathLst>
                <a:path h="4754880" w="18159985">
                  <a:moveTo>
                    <a:pt x="0" y="0"/>
                  </a:moveTo>
                  <a:lnTo>
                    <a:pt x="18159985" y="0"/>
                  </a:lnTo>
                  <a:lnTo>
                    <a:pt x="18159985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17" r="0" b="-2441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8159984" cy="4869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25"/>
                </a:lnSpc>
              </a:pPr>
              <a:r>
                <a:rPr lang="en-US" sz="31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Individuals managing conditions such as diabetes, hypertension, PCOS or high cholesterol struggle to plan safe, practical daily meals, since current diet apps offer generic, calorie-only plans that ignore medical needs, home ingredients and real cooking constraints.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6FA9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FA9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HealthChef sets out to 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665095"/>
            <a:ext cx="8180070" cy="2967990"/>
            <a:chOff x="0" y="0"/>
            <a:chExt cx="10906760" cy="395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1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59567" y="0"/>
                  </a:lnTo>
                  <a:cubicBezTo>
                    <a:pt x="10840848" y="0"/>
                    <a:pt x="10906761" y="65913"/>
                    <a:pt x="10906761" y="147193"/>
                  </a:cubicBezTo>
                  <a:lnTo>
                    <a:pt x="10906761" y="3810127"/>
                  </a:lnTo>
                  <a:cubicBezTo>
                    <a:pt x="10906761" y="3891407"/>
                    <a:pt x="10840848" y="3957320"/>
                    <a:pt x="1075956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113532"/>
            <a:ext cx="850392" cy="850392"/>
            <a:chOff x="0" y="0"/>
            <a:chExt cx="1133856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6964" y="3334636"/>
            <a:ext cx="408184" cy="408184"/>
            <a:chOff x="0" y="0"/>
            <a:chExt cx="544246" cy="544246"/>
          </a:xfrm>
        </p:grpSpPr>
        <p:sp>
          <p:nvSpPr>
            <p:cNvPr name="Freeform 13" id="13" descr="/home/claude/healthchef/icon_utensils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3086100"/>
            <a:ext cx="6240780" cy="685800"/>
            <a:chOff x="0" y="0"/>
            <a:chExt cx="832104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21040" cy="914400"/>
            </a:xfrm>
            <a:custGeom>
              <a:avLst/>
              <a:gdLst/>
              <a:ahLst/>
              <a:cxnLst/>
              <a:rect r="r" b="b" t="t" l="l"/>
              <a:pathLst>
                <a:path h="9144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32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Recipe Generator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4046220"/>
            <a:ext cx="7338060" cy="1371600"/>
            <a:chOff x="0" y="0"/>
            <a:chExt cx="978408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Creates disease-safe, allergy-aware meals personalised to condition, cuisine and available ingredients.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89923" y="2665095"/>
            <a:ext cx="8180070" cy="2967990"/>
            <a:chOff x="0" y="0"/>
            <a:chExt cx="10906760" cy="3957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06761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59567" y="0"/>
                  </a:lnTo>
                  <a:cubicBezTo>
                    <a:pt x="10840848" y="0"/>
                    <a:pt x="10906761" y="65913"/>
                    <a:pt x="10906761" y="147193"/>
                  </a:cubicBezTo>
                  <a:lnTo>
                    <a:pt x="10906761" y="3810127"/>
                  </a:lnTo>
                  <a:cubicBezTo>
                    <a:pt x="10906761" y="3891407"/>
                    <a:pt x="10840848" y="3957320"/>
                    <a:pt x="1075956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10928" y="3113532"/>
            <a:ext cx="850392" cy="850392"/>
            <a:chOff x="0" y="0"/>
            <a:chExt cx="1133856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32032" y="3334636"/>
            <a:ext cx="408184" cy="408184"/>
            <a:chOff x="0" y="0"/>
            <a:chExt cx="544246" cy="544246"/>
          </a:xfrm>
        </p:grpSpPr>
        <p:sp>
          <p:nvSpPr>
            <p:cNvPr name="Freeform 25" id="25" descr="/home/claude/healthchef/icon_chart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76788" y="3086100"/>
            <a:ext cx="6240780" cy="685800"/>
            <a:chOff x="0" y="0"/>
            <a:chExt cx="83210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21040" cy="914400"/>
            </a:xfrm>
            <a:custGeom>
              <a:avLst/>
              <a:gdLst/>
              <a:ahLst/>
              <a:cxnLst/>
              <a:rect r="r" b="b" t="t" l="l"/>
              <a:pathLst>
                <a:path h="9144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32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Nutrition Breakdowns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10928" y="4046220"/>
            <a:ext cx="7338060" cy="1371600"/>
            <a:chOff x="0" y="0"/>
            <a:chExt cx="978408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Accurate, ingredient-level nutrition data with safe substitutions for every recipe.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4855" y="5998083"/>
            <a:ext cx="8180070" cy="2967990"/>
            <a:chOff x="0" y="0"/>
            <a:chExt cx="10906760" cy="3957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6761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59567" y="0"/>
                  </a:lnTo>
                  <a:cubicBezTo>
                    <a:pt x="10840848" y="0"/>
                    <a:pt x="10906761" y="65913"/>
                    <a:pt x="10906761" y="147193"/>
                  </a:cubicBezTo>
                  <a:lnTo>
                    <a:pt x="10906761" y="3810127"/>
                  </a:lnTo>
                  <a:cubicBezTo>
                    <a:pt x="10906761" y="3891407"/>
                    <a:pt x="10840848" y="3957320"/>
                    <a:pt x="1075956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6446520"/>
            <a:ext cx="850392" cy="850392"/>
            <a:chOff x="0" y="0"/>
            <a:chExt cx="1133856" cy="11338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86964" y="6667624"/>
            <a:ext cx="408184" cy="408184"/>
            <a:chOff x="0" y="0"/>
            <a:chExt cx="544246" cy="544246"/>
          </a:xfrm>
        </p:grpSpPr>
        <p:sp>
          <p:nvSpPr>
            <p:cNvPr name="Freeform 37" id="37" descr="/home/claude/healthchef/icon_heartbeat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331720" y="6419088"/>
            <a:ext cx="6240780" cy="685800"/>
            <a:chOff x="0" y="0"/>
            <a:chExt cx="83210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21040" cy="914400"/>
            </a:xfrm>
            <a:custGeom>
              <a:avLst/>
              <a:gdLst/>
              <a:ahLst/>
              <a:cxnLst/>
              <a:rect r="r" b="b" t="t" l="l"/>
              <a:pathLst>
                <a:path h="9144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32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Holistic Health Tracking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5860" y="7379208"/>
            <a:ext cx="7338060" cy="1371600"/>
            <a:chOff x="0" y="0"/>
            <a:chExt cx="978408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Nutrition, hydration, sleep, workouts and medication — all in one app.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89923" y="5998083"/>
            <a:ext cx="8180070" cy="2967990"/>
            <a:chOff x="0" y="0"/>
            <a:chExt cx="10906760" cy="3957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06761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9067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59567" y="0"/>
                  </a:lnTo>
                  <a:cubicBezTo>
                    <a:pt x="10840848" y="0"/>
                    <a:pt x="10906761" y="65913"/>
                    <a:pt x="10906761" y="147193"/>
                  </a:cubicBezTo>
                  <a:lnTo>
                    <a:pt x="10906761" y="3810127"/>
                  </a:lnTo>
                  <a:cubicBezTo>
                    <a:pt x="10906761" y="3891407"/>
                    <a:pt x="10840848" y="3957320"/>
                    <a:pt x="1075956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10928" y="6446520"/>
            <a:ext cx="850392" cy="850392"/>
            <a:chOff x="0" y="0"/>
            <a:chExt cx="1133856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932032" y="6667624"/>
            <a:ext cx="408184" cy="408184"/>
            <a:chOff x="0" y="0"/>
            <a:chExt cx="544246" cy="544246"/>
          </a:xfrm>
        </p:grpSpPr>
        <p:sp>
          <p:nvSpPr>
            <p:cNvPr name="Freeform 49" id="49" descr="/home/claude/healthchef/icon_heart.png"/>
            <p:cNvSpPr/>
            <p:nvPr/>
          </p:nvSpPr>
          <p:spPr>
            <a:xfrm flipH="false" flipV="false" rot="0">
              <a:off x="0" y="0"/>
              <a:ext cx="544195" cy="544195"/>
            </a:xfrm>
            <a:custGeom>
              <a:avLst/>
              <a:gdLst/>
              <a:ahLst/>
              <a:cxnLst/>
              <a:rect r="r" b="b" t="t" l="l"/>
              <a:pathLst>
                <a:path h="544195" w="544195">
                  <a:moveTo>
                    <a:pt x="0" y="0"/>
                  </a:moveTo>
                  <a:lnTo>
                    <a:pt x="544195" y="0"/>
                  </a:lnTo>
                  <a:lnTo>
                    <a:pt x="544195" y="544195"/>
                  </a:lnTo>
                  <a:lnTo>
                    <a:pt x="0" y="54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876788" y="6419088"/>
            <a:ext cx="6240780" cy="685800"/>
            <a:chOff x="0" y="0"/>
            <a:chExt cx="832104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21040" cy="914400"/>
            </a:xfrm>
            <a:custGeom>
              <a:avLst/>
              <a:gdLst/>
              <a:ahLst/>
              <a:cxnLst/>
              <a:rect r="r" b="b" t="t" l="l"/>
              <a:pathLst>
                <a:path h="91440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3210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9"/>
                </a:lnSpc>
              </a:pPr>
              <a:r>
                <a:rPr lang="en-US" sz="24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Recovery &amp; Home Remedies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10928" y="7379208"/>
            <a:ext cx="7338060" cy="1371600"/>
            <a:chOff x="0" y="0"/>
            <a:chExt cx="978408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97840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2"/>
                </a:lnSpc>
              </a:pPr>
              <a:r>
                <a:rPr lang="en-US" sz="2274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Extends support to post-surgical recovery diets and traditional home remedies (“Nuske”).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Modules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7513" y="3488055"/>
            <a:ext cx="2789682" cy="3516630"/>
            <a:chOff x="0" y="0"/>
            <a:chExt cx="3719576" cy="468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19576" cy="4688840"/>
            </a:xfrm>
            <a:custGeom>
              <a:avLst/>
              <a:gdLst/>
              <a:ahLst/>
              <a:cxnLst/>
              <a:rect r="r" b="b" t="t" l="l"/>
              <a:pathLst>
                <a:path h="4688840" w="371957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3553841" y="0"/>
                  </a:lnTo>
                  <a:cubicBezTo>
                    <a:pt x="3645408" y="0"/>
                    <a:pt x="3719576" y="74168"/>
                    <a:pt x="3719576" y="165735"/>
                  </a:cubicBezTo>
                  <a:lnTo>
                    <a:pt x="3719576" y="4523105"/>
                  </a:lnTo>
                  <a:cubicBezTo>
                    <a:pt x="3719576" y="4614672"/>
                    <a:pt x="3645408" y="4688840"/>
                    <a:pt x="3553841" y="4688840"/>
                  </a:cubicBezTo>
                  <a:lnTo>
                    <a:pt x="165735" y="4688840"/>
                  </a:lnTo>
                  <a:cubicBezTo>
                    <a:pt x="74168" y="4688840"/>
                    <a:pt x="0" y="4614672"/>
                    <a:pt x="0" y="4523105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420874" y="3799332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634844" y="4013302"/>
            <a:ext cx="395021" cy="395021"/>
            <a:chOff x="0" y="0"/>
            <a:chExt cx="526694" cy="526694"/>
          </a:xfrm>
        </p:grpSpPr>
        <p:sp>
          <p:nvSpPr>
            <p:cNvPr name="Freeform 13" id="13" descr="/home/claude/healthchef/icon_userlock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8206" y="4798695"/>
            <a:ext cx="2368296" cy="67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Authentication</a:t>
            </a:r>
          </a:p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Onboarding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070" y="5653278"/>
            <a:ext cx="2258568" cy="8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4F7076"/>
                </a:solidFill>
                <a:latin typeface="Calibri (MS)"/>
                <a:ea typeface="Calibri (MS)"/>
                <a:cs typeface="Calibri (MS)"/>
                <a:sym typeface="Calibri (MS)"/>
              </a:rPr>
              <a:t>Phone/email login, guest mode, 5-step health assessment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45102" y="5109210"/>
            <a:ext cx="329184" cy="274320"/>
            <a:chOff x="0" y="0"/>
            <a:chExt cx="438912" cy="365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85466" y="3195828"/>
            <a:ext cx="493776" cy="493776"/>
            <a:chOff x="0" y="0"/>
            <a:chExt cx="658368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85466" y="3195828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92193" y="3488055"/>
            <a:ext cx="2789682" cy="3516630"/>
            <a:chOff x="0" y="0"/>
            <a:chExt cx="3719576" cy="4688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19576" cy="4688840"/>
            </a:xfrm>
            <a:custGeom>
              <a:avLst/>
              <a:gdLst/>
              <a:ahLst/>
              <a:cxnLst/>
              <a:rect r="r" b="b" t="t" l="l"/>
              <a:pathLst>
                <a:path h="4688840" w="371957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3553841" y="0"/>
                  </a:lnTo>
                  <a:cubicBezTo>
                    <a:pt x="3645408" y="0"/>
                    <a:pt x="3719576" y="74168"/>
                    <a:pt x="3719576" y="165735"/>
                  </a:cubicBezTo>
                  <a:lnTo>
                    <a:pt x="3719576" y="4523105"/>
                  </a:lnTo>
                  <a:cubicBezTo>
                    <a:pt x="3719576" y="4614672"/>
                    <a:pt x="3645408" y="4688840"/>
                    <a:pt x="3553841" y="4688840"/>
                  </a:cubicBezTo>
                  <a:lnTo>
                    <a:pt x="165735" y="4688840"/>
                  </a:lnTo>
                  <a:cubicBezTo>
                    <a:pt x="74168" y="4688840"/>
                    <a:pt x="0" y="4614672"/>
                    <a:pt x="0" y="4523105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75554" y="3799332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89524" y="4013302"/>
            <a:ext cx="395021" cy="395021"/>
            <a:chOff x="0" y="0"/>
            <a:chExt cx="526694" cy="526694"/>
          </a:xfrm>
        </p:grpSpPr>
        <p:sp>
          <p:nvSpPr>
            <p:cNvPr name="Freeform 28" id="28" descr="/home/claude/healthchef/icon_compass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802886" y="4798695"/>
            <a:ext cx="2368296" cy="67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Navigation</a:t>
            </a:r>
          </a:p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Theme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57750" y="5653278"/>
            <a:ext cx="2258568" cy="5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4F7076"/>
                </a:solidFill>
                <a:latin typeface="Calibri (MS)"/>
                <a:ea typeface="Calibri (MS)"/>
                <a:cs typeface="Calibri (MS)"/>
                <a:sym typeface="Calibri (MS)"/>
              </a:rPr>
              <a:t>5-tab structure with light/dark mode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399782" y="5109210"/>
            <a:ext cx="329184" cy="274320"/>
            <a:chOff x="0" y="0"/>
            <a:chExt cx="438912" cy="365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740146" y="3195828"/>
            <a:ext cx="493776" cy="493776"/>
            <a:chOff x="0" y="0"/>
            <a:chExt cx="658368" cy="6583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740146" y="3195828"/>
            <a:ext cx="493776" cy="493776"/>
            <a:chOff x="0" y="0"/>
            <a:chExt cx="658368" cy="6583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46873" y="3488055"/>
            <a:ext cx="2789682" cy="3516630"/>
            <a:chOff x="0" y="0"/>
            <a:chExt cx="3719576" cy="4688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19576" cy="4688840"/>
            </a:xfrm>
            <a:custGeom>
              <a:avLst/>
              <a:gdLst/>
              <a:ahLst/>
              <a:cxnLst/>
              <a:rect r="r" b="b" t="t" l="l"/>
              <a:pathLst>
                <a:path h="4688840" w="371957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3553841" y="0"/>
                  </a:lnTo>
                  <a:cubicBezTo>
                    <a:pt x="3645408" y="0"/>
                    <a:pt x="3719576" y="74168"/>
                    <a:pt x="3719576" y="165735"/>
                  </a:cubicBezTo>
                  <a:lnTo>
                    <a:pt x="3719576" y="4523105"/>
                  </a:lnTo>
                  <a:cubicBezTo>
                    <a:pt x="3719576" y="4614672"/>
                    <a:pt x="3645408" y="4688840"/>
                    <a:pt x="3553841" y="4688840"/>
                  </a:cubicBezTo>
                  <a:lnTo>
                    <a:pt x="165735" y="4688840"/>
                  </a:lnTo>
                  <a:cubicBezTo>
                    <a:pt x="74168" y="4688840"/>
                    <a:pt x="0" y="4614672"/>
                    <a:pt x="0" y="4523105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730234" y="3799332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944204" y="4013302"/>
            <a:ext cx="395021" cy="395021"/>
            <a:chOff x="0" y="0"/>
            <a:chExt cx="526694" cy="526694"/>
          </a:xfrm>
        </p:grpSpPr>
        <p:sp>
          <p:nvSpPr>
            <p:cNvPr name="Freeform 43" id="43" descr="/home/claude/healthchef/icon_dashboar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957566" y="4798695"/>
            <a:ext cx="2368296" cy="67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</a:t>
            </a:r>
          </a:p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012430" y="5653278"/>
            <a:ext cx="2258568" cy="8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4F7076"/>
                </a:solidFill>
                <a:latin typeface="Calibri (MS)"/>
                <a:ea typeface="Calibri (MS)"/>
                <a:cs typeface="Calibri (MS)"/>
                <a:sym typeface="Calibri (MS)"/>
              </a:rPr>
              <a:t>Calorie &amp; macro tracking, wellness stats, quick actions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554462" y="5109210"/>
            <a:ext cx="329184" cy="274320"/>
            <a:chOff x="0" y="0"/>
            <a:chExt cx="438912" cy="365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894826" y="3195828"/>
            <a:ext cx="493776" cy="493776"/>
            <a:chOff x="0" y="0"/>
            <a:chExt cx="658368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894826" y="3195828"/>
            <a:ext cx="493776" cy="493776"/>
            <a:chOff x="0" y="0"/>
            <a:chExt cx="658368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01553" y="3488055"/>
            <a:ext cx="2789682" cy="3516630"/>
            <a:chOff x="0" y="0"/>
            <a:chExt cx="3719576" cy="4688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19576" cy="4688840"/>
            </a:xfrm>
            <a:custGeom>
              <a:avLst/>
              <a:gdLst/>
              <a:ahLst/>
              <a:cxnLst/>
              <a:rect r="r" b="b" t="t" l="l"/>
              <a:pathLst>
                <a:path h="4688840" w="371957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3553841" y="0"/>
                  </a:lnTo>
                  <a:cubicBezTo>
                    <a:pt x="3645408" y="0"/>
                    <a:pt x="3719576" y="74168"/>
                    <a:pt x="3719576" y="165735"/>
                  </a:cubicBezTo>
                  <a:lnTo>
                    <a:pt x="3719576" y="4523105"/>
                  </a:lnTo>
                  <a:cubicBezTo>
                    <a:pt x="3719576" y="4614672"/>
                    <a:pt x="3645408" y="4688840"/>
                    <a:pt x="3553841" y="4688840"/>
                  </a:cubicBezTo>
                  <a:lnTo>
                    <a:pt x="165735" y="4688840"/>
                  </a:lnTo>
                  <a:cubicBezTo>
                    <a:pt x="74168" y="4688840"/>
                    <a:pt x="0" y="4614672"/>
                    <a:pt x="0" y="4523105"/>
                  </a:cubicBez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884914" y="3799332"/>
            <a:ext cx="822960" cy="822960"/>
            <a:chOff x="0" y="0"/>
            <a:chExt cx="109728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98884" y="4013302"/>
            <a:ext cx="395021" cy="395021"/>
            <a:chOff x="0" y="0"/>
            <a:chExt cx="526694" cy="526694"/>
          </a:xfrm>
        </p:grpSpPr>
        <p:sp>
          <p:nvSpPr>
            <p:cNvPr name="Freeform 58" id="58" descr="/home/claude/healthchef/icon_utensils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1112246" y="4798695"/>
            <a:ext cx="2368296" cy="67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Recipe</a:t>
            </a:r>
          </a:p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Studio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167110" y="5653278"/>
            <a:ext cx="2258568" cy="63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0"/>
              </a:lnSpc>
            </a:pPr>
            <a:r>
              <a:rPr lang="en-US" sz="1849">
                <a:solidFill>
                  <a:srgbClr val="E7FFF9"/>
                </a:solidFill>
                <a:latin typeface="Calibri (MS)"/>
                <a:ea typeface="Calibri (MS)"/>
                <a:cs typeface="Calibri (MS)"/>
                <a:sym typeface="Calibri (MS)"/>
              </a:rPr>
              <a:t>Disease-aware, cuisine-aware recipe engine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709142" y="5109210"/>
            <a:ext cx="329184" cy="274320"/>
            <a:chOff x="0" y="0"/>
            <a:chExt cx="438912" cy="365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049506" y="3195828"/>
            <a:ext cx="493776" cy="493776"/>
            <a:chOff x="0" y="0"/>
            <a:chExt cx="658368" cy="6583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049506" y="3195828"/>
            <a:ext cx="493776" cy="493776"/>
            <a:chOff x="0" y="0"/>
            <a:chExt cx="658368" cy="6583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056233" y="3488055"/>
            <a:ext cx="2789682" cy="3516630"/>
            <a:chOff x="0" y="0"/>
            <a:chExt cx="3719576" cy="4688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19576" cy="4688840"/>
            </a:xfrm>
            <a:custGeom>
              <a:avLst/>
              <a:gdLst/>
              <a:ahLst/>
              <a:cxnLst/>
              <a:rect r="r" b="b" t="t" l="l"/>
              <a:pathLst>
                <a:path h="4688840" w="371957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3553841" y="0"/>
                  </a:lnTo>
                  <a:cubicBezTo>
                    <a:pt x="3645408" y="0"/>
                    <a:pt x="3719576" y="74168"/>
                    <a:pt x="3719576" y="165735"/>
                  </a:cubicBezTo>
                  <a:lnTo>
                    <a:pt x="3719576" y="4523105"/>
                  </a:lnTo>
                  <a:cubicBezTo>
                    <a:pt x="3719576" y="4614672"/>
                    <a:pt x="3645408" y="4688840"/>
                    <a:pt x="3553841" y="4688840"/>
                  </a:cubicBezTo>
                  <a:lnTo>
                    <a:pt x="165735" y="4688840"/>
                  </a:lnTo>
                  <a:cubicBezTo>
                    <a:pt x="74168" y="4688840"/>
                    <a:pt x="0" y="4614672"/>
                    <a:pt x="0" y="4523105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5039594" y="3799332"/>
            <a:ext cx="822960" cy="822960"/>
            <a:chOff x="0" y="0"/>
            <a:chExt cx="109728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253564" y="4013302"/>
            <a:ext cx="395021" cy="395021"/>
            <a:chOff x="0" y="0"/>
            <a:chExt cx="526694" cy="526694"/>
          </a:xfrm>
        </p:grpSpPr>
        <p:sp>
          <p:nvSpPr>
            <p:cNvPr name="Freeform 73" id="73" descr="/home/claude/healthchef/icon_clipboar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4266926" y="4798695"/>
            <a:ext cx="2368296" cy="67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Tracking</a:t>
            </a:r>
          </a:p>
          <a:p>
            <a:pPr algn="ctr">
              <a:lnSpc>
                <a:spcPts val="2519"/>
              </a:lnSpc>
            </a:pPr>
            <a:r>
              <a:rPr lang="en-US" sz="2099" b="true">
                <a:solidFill>
                  <a:srgbClr val="073B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Planner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321790" y="5653278"/>
            <a:ext cx="2258568" cy="8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4F7076"/>
                </a:solidFill>
                <a:latin typeface="Calibri (MS)"/>
                <a:ea typeface="Calibri (MS)"/>
                <a:cs typeface="Calibri (MS)"/>
                <a:sym typeface="Calibri (MS)"/>
              </a:rPr>
              <a:t>Meal logs, hydration, sleep, workouts, 7-day planner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5204186" y="3195828"/>
            <a:ext cx="493776" cy="493776"/>
            <a:chOff x="0" y="0"/>
            <a:chExt cx="658368" cy="65836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5204186" y="3195828"/>
            <a:ext cx="493776" cy="493776"/>
            <a:chOff x="0" y="0"/>
            <a:chExt cx="658368" cy="6583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54380" y="7612380"/>
            <a:ext cx="16733520" cy="548640"/>
            <a:chOff x="0" y="0"/>
            <a:chExt cx="2231136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3113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231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4F70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End-to-end module flow, from first login through daily tracking and planning.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Recipe Generation Workflow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7038" y="3429000"/>
            <a:ext cx="2770632" cy="3223260"/>
            <a:chOff x="0" y="0"/>
            <a:chExt cx="3694176" cy="429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94176" cy="4297680"/>
            </a:xfrm>
            <a:custGeom>
              <a:avLst/>
              <a:gdLst/>
              <a:ahLst/>
              <a:cxnLst/>
              <a:rect r="r" b="b" t="t" l="l"/>
              <a:pathLst>
                <a:path h="4297680" w="36941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29584" y="0"/>
                  </a:lnTo>
                  <a:cubicBezTo>
                    <a:pt x="3620516" y="0"/>
                    <a:pt x="3694176" y="73660"/>
                    <a:pt x="3694176" y="164592"/>
                  </a:cubicBezTo>
                  <a:lnTo>
                    <a:pt x="3694176" y="4133088"/>
                  </a:lnTo>
                  <a:cubicBezTo>
                    <a:pt x="3694176" y="4224020"/>
                    <a:pt x="3620516" y="4297680"/>
                    <a:pt x="3529584" y="4297680"/>
                  </a:cubicBezTo>
                  <a:lnTo>
                    <a:pt x="164592" y="4297680"/>
                  </a:lnTo>
                  <a:cubicBezTo>
                    <a:pt x="73660" y="4297680"/>
                    <a:pt x="0" y="4224020"/>
                    <a:pt x="0" y="413308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75738" y="3730752"/>
            <a:ext cx="713232" cy="713232"/>
            <a:chOff x="0" y="0"/>
            <a:chExt cx="950976" cy="9509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75738" y="3730752"/>
            <a:ext cx="713232" cy="713232"/>
            <a:chOff x="0" y="0"/>
            <a:chExt cx="950976" cy="9509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75638" y="4606671"/>
            <a:ext cx="2313432" cy="37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17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Onboarding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0502" y="5255514"/>
            <a:ext cx="2203704" cy="8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F1FBF9"/>
                </a:solidFill>
                <a:latin typeface="Calibri (MS)"/>
                <a:ea typeface="Calibri (MS)"/>
                <a:cs typeface="Calibri (MS)"/>
                <a:sym typeface="Calibri (MS)"/>
              </a:rPr>
              <a:t>Biometrics, goals, medical conditions, allergies and diet type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45102" y="4903470"/>
            <a:ext cx="329184" cy="274320"/>
            <a:chOff x="0" y="0"/>
            <a:chExt cx="438912" cy="365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601718" y="3429000"/>
            <a:ext cx="2770632" cy="3223260"/>
            <a:chOff x="0" y="0"/>
            <a:chExt cx="3694176" cy="4297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94176" cy="4297680"/>
            </a:xfrm>
            <a:custGeom>
              <a:avLst/>
              <a:gdLst/>
              <a:ahLst/>
              <a:cxnLst/>
              <a:rect r="r" b="b" t="t" l="l"/>
              <a:pathLst>
                <a:path h="4297680" w="36941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29584" y="0"/>
                  </a:lnTo>
                  <a:cubicBezTo>
                    <a:pt x="3620516" y="0"/>
                    <a:pt x="3694176" y="73660"/>
                    <a:pt x="3694176" y="164592"/>
                  </a:cubicBezTo>
                  <a:lnTo>
                    <a:pt x="3694176" y="4133088"/>
                  </a:lnTo>
                  <a:cubicBezTo>
                    <a:pt x="3694176" y="4224020"/>
                    <a:pt x="3620516" y="4297680"/>
                    <a:pt x="3529584" y="4297680"/>
                  </a:cubicBezTo>
                  <a:lnTo>
                    <a:pt x="164592" y="4297680"/>
                  </a:lnTo>
                  <a:cubicBezTo>
                    <a:pt x="73660" y="4297680"/>
                    <a:pt x="0" y="4224020"/>
                    <a:pt x="0" y="413308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630418" y="3730752"/>
            <a:ext cx="713232" cy="713232"/>
            <a:chOff x="0" y="0"/>
            <a:chExt cx="950976" cy="9509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630418" y="3730752"/>
            <a:ext cx="713232" cy="713232"/>
            <a:chOff x="0" y="0"/>
            <a:chExt cx="950976" cy="9509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A8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830318" y="4606671"/>
            <a:ext cx="2313432" cy="37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17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 Preferences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85182" y="5255514"/>
            <a:ext cx="2203704" cy="8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F1FBF9"/>
                </a:solidFill>
                <a:latin typeface="Calibri (MS)"/>
                <a:ea typeface="Calibri (MS)"/>
                <a:cs typeface="Calibri (MS)"/>
                <a:sym typeface="Calibri (MS)"/>
              </a:rPr>
              <a:t>Meal type, cuisine, calorie range and cooking time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399782" y="4903470"/>
            <a:ext cx="329184" cy="274320"/>
            <a:chOff x="0" y="0"/>
            <a:chExt cx="438912" cy="365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756398" y="3429000"/>
            <a:ext cx="2770632" cy="3223260"/>
            <a:chOff x="0" y="0"/>
            <a:chExt cx="3694176" cy="429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94176" cy="4297680"/>
            </a:xfrm>
            <a:custGeom>
              <a:avLst/>
              <a:gdLst/>
              <a:ahLst/>
              <a:cxnLst/>
              <a:rect r="r" b="b" t="t" l="l"/>
              <a:pathLst>
                <a:path h="4297680" w="36941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29584" y="0"/>
                  </a:lnTo>
                  <a:cubicBezTo>
                    <a:pt x="3620516" y="0"/>
                    <a:pt x="3694176" y="73660"/>
                    <a:pt x="3694176" y="164592"/>
                  </a:cubicBezTo>
                  <a:lnTo>
                    <a:pt x="3694176" y="4133088"/>
                  </a:lnTo>
                  <a:cubicBezTo>
                    <a:pt x="3694176" y="4224020"/>
                    <a:pt x="3620516" y="4297680"/>
                    <a:pt x="3529584" y="4297680"/>
                  </a:cubicBezTo>
                  <a:lnTo>
                    <a:pt x="164592" y="4297680"/>
                  </a:lnTo>
                  <a:cubicBezTo>
                    <a:pt x="73660" y="4297680"/>
                    <a:pt x="0" y="4224020"/>
                    <a:pt x="0" y="413308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785098" y="3730752"/>
            <a:ext cx="713232" cy="713232"/>
            <a:chOff x="0" y="0"/>
            <a:chExt cx="950976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85098" y="3730752"/>
            <a:ext cx="713232" cy="713232"/>
            <a:chOff x="0" y="0"/>
            <a:chExt cx="950976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984998" y="4606671"/>
            <a:ext cx="2313432" cy="37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17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Safety Cross-Check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39862" y="5255514"/>
            <a:ext cx="2203704" cy="114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F1FBF9"/>
                </a:solidFill>
                <a:latin typeface="Calibri (MS)"/>
                <a:ea typeface="Calibri (MS)"/>
                <a:cs typeface="Calibri (MS)"/>
                <a:sym typeface="Calibri (MS)"/>
              </a:rPr>
              <a:t>Engine checks medical conditions &amp; allergies against the nutrition database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554462" y="4903470"/>
            <a:ext cx="329184" cy="274320"/>
            <a:chOff x="0" y="0"/>
            <a:chExt cx="438912" cy="365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11078" y="3429000"/>
            <a:ext cx="2770632" cy="3223260"/>
            <a:chOff x="0" y="0"/>
            <a:chExt cx="3694176" cy="429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94176" cy="4297680"/>
            </a:xfrm>
            <a:custGeom>
              <a:avLst/>
              <a:gdLst/>
              <a:ahLst/>
              <a:cxnLst/>
              <a:rect r="r" b="b" t="t" l="l"/>
              <a:pathLst>
                <a:path h="4297680" w="36941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29584" y="0"/>
                  </a:lnTo>
                  <a:cubicBezTo>
                    <a:pt x="3620516" y="0"/>
                    <a:pt x="3694176" y="73660"/>
                    <a:pt x="3694176" y="164592"/>
                  </a:cubicBezTo>
                  <a:lnTo>
                    <a:pt x="3694176" y="4133088"/>
                  </a:lnTo>
                  <a:cubicBezTo>
                    <a:pt x="3694176" y="4224020"/>
                    <a:pt x="3620516" y="4297680"/>
                    <a:pt x="3529584" y="4297680"/>
                  </a:cubicBezTo>
                  <a:lnTo>
                    <a:pt x="164592" y="4297680"/>
                  </a:lnTo>
                  <a:cubicBezTo>
                    <a:pt x="73660" y="4297680"/>
                    <a:pt x="0" y="4224020"/>
                    <a:pt x="0" y="4133088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939778" y="3730752"/>
            <a:ext cx="713232" cy="713232"/>
            <a:chOff x="0" y="0"/>
            <a:chExt cx="950976" cy="9509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939778" y="3730752"/>
            <a:ext cx="713232" cy="713232"/>
            <a:chOff x="0" y="0"/>
            <a:chExt cx="950976" cy="9509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A8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084814" y="4606671"/>
            <a:ext cx="2313432" cy="69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17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Generates Recipes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94542" y="5255514"/>
            <a:ext cx="2203704" cy="114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F1FBF9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disease-safe options with substitutions &amp; nutrition breakdown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709142" y="4903470"/>
            <a:ext cx="329184" cy="274320"/>
            <a:chOff x="0" y="0"/>
            <a:chExt cx="438912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" cy="365760"/>
            </a:xfrm>
            <a:custGeom>
              <a:avLst/>
              <a:gdLst/>
              <a:ahLst/>
              <a:cxnLst/>
              <a:rect r="r" b="b" t="t" l="l"/>
              <a:pathLst>
                <a:path h="365760" w="438912">
                  <a:moveTo>
                    <a:pt x="0" y="91440"/>
                  </a:moveTo>
                  <a:lnTo>
                    <a:pt x="256032" y="91440"/>
                  </a:lnTo>
                  <a:lnTo>
                    <a:pt x="256032" y="0"/>
                  </a:lnTo>
                  <a:lnTo>
                    <a:pt x="438912" y="182880"/>
                  </a:lnTo>
                  <a:lnTo>
                    <a:pt x="256032" y="365760"/>
                  </a:lnTo>
                  <a:lnTo>
                    <a:pt x="256032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065758" y="3429000"/>
            <a:ext cx="2770632" cy="3223260"/>
            <a:chOff x="0" y="0"/>
            <a:chExt cx="3694176" cy="42976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94176" cy="4297680"/>
            </a:xfrm>
            <a:custGeom>
              <a:avLst/>
              <a:gdLst/>
              <a:ahLst/>
              <a:cxnLst/>
              <a:rect r="r" b="b" t="t" l="l"/>
              <a:pathLst>
                <a:path h="4297680" w="369417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29584" y="0"/>
                  </a:lnTo>
                  <a:cubicBezTo>
                    <a:pt x="3620516" y="0"/>
                    <a:pt x="3694176" y="73660"/>
                    <a:pt x="3694176" y="164592"/>
                  </a:cubicBezTo>
                  <a:lnTo>
                    <a:pt x="3694176" y="4133088"/>
                  </a:lnTo>
                  <a:cubicBezTo>
                    <a:pt x="3694176" y="4224020"/>
                    <a:pt x="3620516" y="4297680"/>
                    <a:pt x="3529584" y="4297680"/>
                  </a:cubicBezTo>
                  <a:lnTo>
                    <a:pt x="164592" y="4297680"/>
                  </a:lnTo>
                  <a:cubicBezTo>
                    <a:pt x="73660" y="4297680"/>
                    <a:pt x="0" y="4224020"/>
                    <a:pt x="0" y="4133088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5094458" y="3730752"/>
            <a:ext cx="713232" cy="713232"/>
            <a:chOff x="0" y="0"/>
            <a:chExt cx="950976" cy="950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094458" y="3730752"/>
            <a:ext cx="713232" cy="713232"/>
            <a:chOff x="0" y="0"/>
            <a:chExt cx="950976" cy="9509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950976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2809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4294358" y="4606671"/>
            <a:ext cx="2313432" cy="37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217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 / Save / Listen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49222" y="5255514"/>
            <a:ext cx="2203704" cy="8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749">
                <a:solidFill>
                  <a:srgbClr val="F1FBF9"/>
                </a:solidFill>
                <a:latin typeface="Calibri (MS)"/>
                <a:ea typeface="Calibri (MS)"/>
                <a:cs typeface="Calibri (MS)"/>
                <a:sym typeface="Calibri (MS)"/>
              </a:rPr>
              <a:t>User logs the meal, saves it, or hears steps read aloud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754380" y="7200900"/>
            <a:ext cx="16733520" cy="548640"/>
            <a:chOff x="0" y="0"/>
            <a:chExt cx="2231136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3113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93" r="0" b="-54429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231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4F70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closed loop: every recipe is filtered for medical safety before it ever reaches the user.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STATUS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Currently Implemented Modules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67462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2688" y="2852928"/>
            <a:ext cx="329184" cy="329184"/>
            <a:chOff x="0" y="0"/>
            <a:chExt cx="438912" cy="438912"/>
          </a:xfrm>
        </p:grpSpPr>
        <p:sp>
          <p:nvSpPr>
            <p:cNvPr name="Freeform 11" id="11" descr="/home/claude/healthchef/icon_check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3080" y="2510028"/>
            <a:ext cx="15636240" cy="1165860"/>
            <a:chOff x="0" y="0"/>
            <a:chExt cx="2084832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328" r="0" b="-2113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084832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 authentication (phone OTP / email) with a one-tap guest demo mode.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4018788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2688" y="4197096"/>
            <a:ext cx="329184" cy="329184"/>
            <a:chOff x="0" y="0"/>
            <a:chExt cx="438912" cy="438912"/>
          </a:xfrm>
        </p:grpSpPr>
        <p:sp>
          <p:nvSpPr>
            <p:cNvPr name="Freeform 18" id="18" descr="/home/claude/healthchef/icon_check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83080" y="3854196"/>
            <a:ext cx="15636240" cy="1165860"/>
            <a:chOff x="0" y="0"/>
            <a:chExt cx="2084832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328" r="0" b="-21132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084832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Compulsory 5-step health assessment covering biometrics, goals, medical conditions and diet preferences.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4380" y="5362956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" y="5541264"/>
            <a:ext cx="329184" cy="329184"/>
            <a:chOff x="0" y="0"/>
            <a:chExt cx="438912" cy="438912"/>
          </a:xfrm>
        </p:grpSpPr>
        <p:sp>
          <p:nvSpPr>
            <p:cNvPr name="Freeform 25" id="25" descr="/home/claude/healthchef/icon_check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83080" y="5198364"/>
            <a:ext cx="15636240" cy="1165860"/>
            <a:chOff x="0" y="0"/>
            <a:chExt cx="2084832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328" r="0" b="-2113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2084832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5-tab navigation with back-button history tracking and a light/dark theme switcher.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4380" y="6707124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688" y="6885432"/>
            <a:ext cx="329184" cy="329184"/>
            <a:chOff x="0" y="0"/>
            <a:chExt cx="438912" cy="438912"/>
          </a:xfrm>
        </p:grpSpPr>
        <p:sp>
          <p:nvSpPr>
            <p:cNvPr name="Freeform 32" id="32" descr="/home/claude/healthchef/icon_check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83080" y="6542532"/>
            <a:ext cx="15636240" cy="1165860"/>
            <a:chOff x="0" y="0"/>
            <a:chExt cx="2084832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328" r="0" b="-2113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2084832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 dashboard with calorie/macro progress, wellness pillar stats and a quick action grid.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4380" y="8051292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" y="8229600"/>
            <a:ext cx="329184" cy="329184"/>
            <a:chOff x="0" y="0"/>
            <a:chExt cx="438912" cy="438912"/>
          </a:xfrm>
        </p:grpSpPr>
        <p:sp>
          <p:nvSpPr>
            <p:cNvPr name="Freeform 39" id="39" descr="/home/claude/healthchef/icon_check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83080" y="7886700"/>
            <a:ext cx="15636240" cy="1165860"/>
            <a:chOff x="0" y="0"/>
            <a:chExt cx="2084832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328" r="0" b="-21132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2084832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8"/>
                </a:lnSpc>
              </a:pPr>
              <a:r>
                <a:rPr lang="en-US" sz="23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Recipe Studio generating 5 disease-aware recipes with nutrition breakdown, smart substitutions and bilingual voice read-aloud.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Tracking, Planning &amp; Next Steps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67462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0519" y="2870759"/>
            <a:ext cx="362102" cy="362102"/>
            <a:chOff x="0" y="0"/>
            <a:chExt cx="482803" cy="482803"/>
          </a:xfrm>
        </p:grpSpPr>
        <p:sp>
          <p:nvSpPr>
            <p:cNvPr name="Freeform 11" id="11" descr="/home/claude/healthchef/icon_clipboard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0" b="1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51660" y="2606040"/>
            <a:ext cx="9189720" cy="1371600"/>
            <a:chOff x="0" y="0"/>
            <a:chExt cx="1225296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5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252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Editable meal log, hydration tracker, sleep schedule and workout logger with medication reminders.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418338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519" y="4379519"/>
            <a:ext cx="362102" cy="362102"/>
            <a:chOff x="0" y="0"/>
            <a:chExt cx="482803" cy="482803"/>
          </a:xfrm>
        </p:grpSpPr>
        <p:sp>
          <p:nvSpPr>
            <p:cNvPr name="Freeform 18" id="18" descr="/home/claude/healthchef/icon_clipboard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0" b="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851660" y="4114800"/>
            <a:ext cx="9189720" cy="1371600"/>
            <a:chOff x="0" y="0"/>
            <a:chExt cx="1225296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5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252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Micronutrient tracking (Iron, Calcium, Sodium) with clinical safety indicators.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4380" y="569214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0519" y="5888279"/>
            <a:ext cx="362102" cy="362102"/>
            <a:chOff x="0" y="0"/>
            <a:chExt cx="482803" cy="482803"/>
          </a:xfrm>
        </p:grpSpPr>
        <p:sp>
          <p:nvSpPr>
            <p:cNvPr name="Freeform 25" id="25" descr="/home/claude/healthchef/icon_clipboard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0" b="1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851660" y="5623560"/>
            <a:ext cx="9189720" cy="1371600"/>
            <a:chOff x="0" y="0"/>
            <a:chExt cx="1225296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25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2252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7-day meal planner with single-meal regeneration and a weekly health summary.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21440" y="2674620"/>
            <a:ext cx="6035040" cy="6652260"/>
            <a:chOff x="0" y="0"/>
            <a:chExt cx="8046720" cy="8869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8869680"/>
            </a:xfrm>
            <a:custGeom>
              <a:avLst/>
              <a:gdLst/>
              <a:ahLst/>
              <a:cxnLst/>
              <a:rect r="r" b="b" t="t" l="l"/>
              <a:pathLst>
                <a:path h="8869680" w="8046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863840" y="0"/>
                  </a:lnTo>
                  <a:cubicBezTo>
                    <a:pt x="7964805" y="0"/>
                    <a:pt x="8046720" y="81915"/>
                    <a:pt x="8046720" y="182880"/>
                  </a:cubicBezTo>
                  <a:lnTo>
                    <a:pt x="8046720" y="8686800"/>
                  </a:lnTo>
                  <a:cubicBezTo>
                    <a:pt x="8046720" y="8787765"/>
                    <a:pt x="7964805" y="8869680"/>
                    <a:pt x="7863840" y="8869680"/>
                  </a:cubicBezTo>
                  <a:lnTo>
                    <a:pt x="182880" y="8869680"/>
                  </a:lnTo>
                  <a:cubicBezTo>
                    <a:pt x="81915" y="8869680"/>
                    <a:pt x="0" y="8787765"/>
                    <a:pt x="0" y="8686800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932920" y="308610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29059" y="3282239"/>
            <a:ext cx="362102" cy="362102"/>
            <a:chOff x="0" y="0"/>
            <a:chExt cx="482803" cy="482803"/>
          </a:xfrm>
        </p:grpSpPr>
        <p:sp>
          <p:nvSpPr>
            <p:cNvPr name="Freeform 34" id="34" descr="/home/claude/healthchef/icon_hourglass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0" b="1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893040" y="3127248"/>
            <a:ext cx="4389120" cy="685800"/>
            <a:chOff x="0" y="0"/>
            <a:chExt cx="585216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852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Planned Next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932920" y="4293108"/>
            <a:ext cx="192024" cy="192024"/>
            <a:chOff x="0" y="0"/>
            <a:chExt cx="256032" cy="2560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44400" y="4046220"/>
            <a:ext cx="4937760" cy="822960"/>
            <a:chOff x="0" y="0"/>
            <a:chExt cx="65836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65836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Multi-condition multi-select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32920" y="5280660"/>
            <a:ext cx="192024" cy="192024"/>
            <a:chOff x="0" y="0"/>
            <a:chExt cx="256032" cy="2560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4400" y="5033772"/>
            <a:ext cx="4937760" cy="822960"/>
            <a:chOff x="0" y="0"/>
            <a:chExt cx="65836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65836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Medication dosage field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32920" y="6268212"/>
            <a:ext cx="192024" cy="192024"/>
            <a:chOff x="0" y="0"/>
            <a:chExt cx="256032" cy="2560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0" y="6021324"/>
            <a:ext cx="4937760" cy="822960"/>
            <a:chOff x="0" y="0"/>
            <a:chExt cx="65836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65836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Multi-Cuisine meal generation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32920" y="7255764"/>
            <a:ext cx="192024" cy="192024"/>
            <a:chOff x="0" y="0"/>
            <a:chExt cx="256032" cy="2560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344400" y="7008876"/>
            <a:ext cx="4937760" cy="822960"/>
            <a:chOff x="0" y="0"/>
            <a:chExt cx="658368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65836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1999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Gemini API integration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What's working, what's next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665095"/>
            <a:ext cx="8180070" cy="6671310"/>
            <a:chOff x="0" y="0"/>
            <a:chExt cx="10906760" cy="889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90676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723372" y="0"/>
                  </a:lnTo>
                  <a:cubicBezTo>
                    <a:pt x="10824718" y="0"/>
                    <a:pt x="10906760" y="82169"/>
                    <a:pt x="10906760" y="183388"/>
                  </a:cubicBezTo>
                  <a:lnTo>
                    <a:pt x="10906760" y="8711692"/>
                  </a:lnTo>
                  <a:cubicBezTo>
                    <a:pt x="10906760" y="8813038"/>
                    <a:pt x="10824590" y="8895080"/>
                    <a:pt x="10723372" y="8895080"/>
                  </a:cubicBezTo>
                  <a:lnTo>
                    <a:pt x="183388" y="8895080"/>
                  </a:lnTo>
                  <a:cubicBezTo>
                    <a:pt x="82169" y="8895080"/>
                    <a:pt x="0" y="8812911"/>
                    <a:pt x="0" y="8711692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0861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1999" y="3282239"/>
            <a:ext cx="362102" cy="362102"/>
            <a:chOff x="0" y="0"/>
            <a:chExt cx="482803" cy="482803"/>
          </a:xfrm>
        </p:grpSpPr>
        <p:sp>
          <p:nvSpPr>
            <p:cNvPr name="Freeform 13" id="13" descr="/home/claude/healthchef/icon_check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0" b="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25980" y="3113532"/>
            <a:ext cx="6309360" cy="685800"/>
            <a:chOff x="0" y="0"/>
            <a:chExt cx="841248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624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Fully Functional Today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4334256"/>
            <a:ext cx="219456" cy="219456"/>
            <a:chOff x="0" y="0"/>
            <a:chExt cx="292608" cy="292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7340" y="4087368"/>
            <a:ext cx="7200900" cy="822960"/>
            <a:chOff x="0" y="0"/>
            <a:chExt cx="96012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601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Authentication, onboarding, and 5-tab navigation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" y="5321808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77340" y="5074920"/>
            <a:ext cx="7200900" cy="822960"/>
            <a:chOff x="0" y="0"/>
            <a:chExt cx="96012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601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 dashboard with calorie/macro and wellness tracking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5860" y="6309360"/>
            <a:ext cx="219456" cy="219456"/>
            <a:chOff x="0" y="0"/>
            <a:chExt cx="292608" cy="292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77340" y="6062472"/>
            <a:ext cx="7200900" cy="822960"/>
            <a:chOff x="0" y="0"/>
            <a:chExt cx="96012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601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Recipe Studio with substitutions and voice read-aloud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7296912"/>
            <a:ext cx="219456" cy="219456"/>
            <a:chOff x="0" y="0"/>
            <a:chExt cx="292608" cy="292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77340" y="7050024"/>
            <a:ext cx="7200900" cy="822960"/>
            <a:chOff x="0" y="0"/>
            <a:chExt cx="96012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01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food, hydration, sleep, workout and medication tracking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5860" y="8284464"/>
            <a:ext cx="219456" cy="219456"/>
            <a:chOff x="0" y="0"/>
            <a:chExt cx="292608" cy="2926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77340" y="8037576"/>
            <a:ext cx="7200900" cy="822960"/>
            <a:chOff x="0" y="0"/>
            <a:chExt cx="96012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601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4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7-day meal planner with weekly health summary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99448" y="2674620"/>
            <a:ext cx="8161020" cy="6652260"/>
            <a:chOff x="0" y="0"/>
            <a:chExt cx="10881360" cy="8869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8136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881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98480" y="0"/>
                  </a:lnTo>
                  <a:cubicBezTo>
                    <a:pt x="10799445" y="0"/>
                    <a:pt x="10881360" y="81915"/>
                    <a:pt x="10881360" y="182880"/>
                  </a:cubicBezTo>
                  <a:lnTo>
                    <a:pt x="10881360" y="8686800"/>
                  </a:lnTo>
                  <a:cubicBezTo>
                    <a:pt x="10881360" y="8787765"/>
                    <a:pt x="10799445" y="8869680"/>
                    <a:pt x="10698480" y="8869680"/>
                  </a:cubicBezTo>
                  <a:lnTo>
                    <a:pt x="182880" y="8869680"/>
                  </a:lnTo>
                  <a:cubicBezTo>
                    <a:pt x="81915" y="8869680"/>
                    <a:pt x="0" y="8787765"/>
                    <a:pt x="0" y="8686800"/>
                  </a:cubicBezTo>
                  <a:close/>
                </a:path>
              </a:pathLst>
            </a:custGeom>
            <a:solidFill>
              <a:srgbClr val="073B4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10928" y="3086100"/>
            <a:ext cx="754380" cy="754380"/>
            <a:chOff x="0" y="0"/>
            <a:chExt cx="100584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907067" y="3282239"/>
            <a:ext cx="362102" cy="362102"/>
            <a:chOff x="0" y="0"/>
            <a:chExt cx="482803" cy="482803"/>
          </a:xfrm>
        </p:grpSpPr>
        <p:sp>
          <p:nvSpPr>
            <p:cNvPr name="Freeform 47" id="47" descr="/home/claude/healthchef/icon_hourglass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0" b="1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671048" y="3113532"/>
            <a:ext cx="6446520" cy="685800"/>
            <a:chOff x="0" y="0"/>
            <a:chExt cx="859536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95360" cy="914400"/>
            </a:xfrm>
            <a:custGeom>
              <a:avLst/>
              <a:gdLst/>
              <a:ahLst/>
              <a:cxnLst/>
              <a:rect r="r" b="b" t="t" l="l"/>
              <a:pathLst>
                <a:path h="91440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8595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6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Progress / Identified Gaps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710928" y="4334256"/>
            <a:ext cx="219456" cy="219456"/>
            <a:chOff x="0" y="0"/>
            <a:chExt cx="292608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122408" y="4087368"/>
            <a:ext cx="6926580" cy="960120"/>
            <a:chOff x="0" y="0"/>
            <a:chExt cx="923544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35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570" r="0" b="-905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2354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4"/>
                </a:lnSpc>
              </a:pPr>
              <a:r>
                <a:rPr lang="en-US" sz="2024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Multi-condition multi-select with custom condition input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10928" y="5458968"/>
            <a:ext cx="219456" cy="219456"/>
            <a:chOff x="0" y="0"/>
            <a:chExt cx="292608" cy="2926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122408" y="5212080"/>
            <a:ext cx="6926580" cy="960120"/>
            <a:chOff x="0" y="0"/>
            <a:chExt cx="923544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35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570" r="0" b="-9057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92354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4"/>
                </a:lnSpc>
              </a:pPr>
              <a:r>
                <a:rPr lang="en-US" sz="2024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Medication dosage field and all-day multi-meal generation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10928" y="6583680"/>
            <a:ext cx="219456" cy="219456"/>
            <a:chOff x="0" y="0"/>
            <a:chExt cx="292608" cy="2926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122408" y="6336792"/>
            <a:ext cx="6926580" cy="960120"/>
            <a:chOff x="0" y="0"/>
            <a:chExt cx="923544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35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570" r="0" b="-9057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92354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4"/>
                </a:lnSpc>
              </a:pPr>
              <a:r>
                <a:rPr lang="en-US" sz="2024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Allergies card on Profile screen and a retake-assessment option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710928" y="7708392"/>
            <a:ext cx="219456" cy="219456"/>
            <a:chOff x="0" y="0"/>
            <a:chExt cx="292608" cy="2926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122408" y="7461504"/>
            <a:ext cx="6926580" cy="960120"/>
            <a:chOff x="0" y="0"/>
            <a:chExt cx="9235440" cy="12801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354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570" r="0" b="-905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2354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4"/>
                </a:lnSpc>
              </a:pPr>
              <a:r>
                <a:rPr lang="en-US" sz="2024">
                  <a:solidFill>
                    <a:srgbClr val="E7FF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Grocery list generator and direct Gemini API integration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Semester achievements &amp; what's ahead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55" y="2596515"/>
            <a:ext cx="16821150" cy="2419350"/>
            <a:chOff x="0" y="0"/>
            <a:chExt cx="22428200" cy="322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282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224282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22243923" y="0"/>
                  </a:lnTo>
                  <a:cubicBezTo>
                    <a:pt x="22345650" y="0"/>
                    <a:pt x="22428200" y="82550"/>
                    <a:pt x="22428200" y="184277"/>
                  </a:cubicBezTo>
                  <a:lnTo>
                    <a:pt x="22428200" y="3041523"/>
                  </a:lnTo>
                  <a:cubicBezTo>
                    <a:pt x="22428200" y="3143377"/>
                    <a:pt x="22345650" y="3225800"/>
                    <a:pt x="2224392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907792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1999" y="3103931"/>
            <a:ext cx="362102" cy="362102"/>
            <a:chOff x="0" y="0"/>
            <a:chExt cx="482803" cy="482803"/>
          </a:xfrm>
        </p:grpSpPr>
        <p:sp>
          <p:nvSpPr>
            <p:cNvPr name="Freeform 13" id="13" descr="/home/claude/healthchef/icon_flag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0" b="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25980" y="2921508"/>
            <a:ext cx="8229600" cy="548640"/>
            <a:chOff x="0" y="0"/>
            <a:chExt cx="10972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Achieved This Semester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5980" y="3497580"/>
            <a:ext cx="14950440" cy="1303020"/>
            <a:chOff x="0" y="0"/>
            <a:chExt cx="1993392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33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565" r="0" b="-1735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9933920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1999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functional, disease-aware diet and cooking assistant covering authentication, onboarding, AI recipe generation, and day-to-day health tracking. Working AI Recipe Studio with disease-safe substitutions and bilingual (Hindi/English) voice guidance.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4855" y="5202555"/>
            <a:ext cx="16821150" cy="2145030"/>
            <a:chOff x="0" y="0"/>
            <a:chExt cx="22428200" cy="2860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282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224282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22243669" y="0"/>
                  </a:lnTo>
                  <a:cubicBezTo>
                    <a:pt x="22345523" y="0"/>
                    <a:pt x="22428200" y="82677"/>
                    <a:pt x="22428200" y="184531"/>
                  </a:cubicBezTo>
                  <a:lnTo>
                    <a:pt x="22428200" y="2675509"/>
                  </a:lnTo>
                  <a:cubicBezTo>
                    <a:pt x="22428200" y="2777363"/>
                    <a:pt x="22345523" y="2860040"/>
                    <a:pt x="222436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1F7F6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548640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999" y="5682539"/>
            <a:ext cx="362102" cy="362102"/>
            <a:chOff x="0" y="0"/>
            <a:chExt cx="482803" cy="482803"/>
          </a:xfrm>
        </p:grpSpPr>
        <p:sp>
          <p:nvSpPr>
            <p:cNvPr name="Freeform 25" id="25" descr="/home/claude/healthchef/icon_hourglass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0" b="1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25980" y="5513832"/>
            <a:ext cx="8229600" cy="548640"/>
            <a:chOff x="0" y="0"/>
            <a:chExt cx="109728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073B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Planned for Next Phase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25980" y="6062472"/>
            <a:ext cx="14950440" cy="1165860"/>
            <a:chOff x="0" y="0"/>
            <a:chExt cx="1993392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1993392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1999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Post-surgical recovery diet feature with voice input for surgery details  ·  “Nuske” tab for traditional Indian home remedies  ·  Persistent user database for re-login and data retention.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987552"/>
            <a:ext cx="15910560" cy="1165860"/>
            <a:chOff x="0" y="0"/>
            <a:chExt cx="212140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913" r="0" b="-2159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73B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Sources consulted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3017520"/>
            <a:ext cx="822960" cy="822960"/>
            <a:chOff x="0" y="0"/>
            <a:chExt cx="10972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8350" y="3231490"/>
            <a:ext cx="395021" cy="395021"/>
            <a:chOff x="0" y="0"/>
            <a:chExt cx="526694" cy="526694"/>
          </a:xfrm>
        </p:grpSpPr>
        <p:sp>
          <p:nvSpPr>
            <p:cNvPr name="Freeform 11" id="11" descr="/home/claude/healthchef/icon_book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51660" y="3017520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A8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[1]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74620" y="3017520"/>
            <a:ext cx="13030200" cy="822960"/>
            <a:chOff x="0" y="0"/>
            <a:chExt cx="173736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HealthifyMe App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4380" y="4526280"/>
            <a:ext cx="822960" cy="822960"/>
            <a:chOff x="0" y="0"/>
            <a:chExt cx="10972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8350" y="4740250"/>
            <a:ext cx="395021" cy="395021"/>
            <a:chOff x="0" y="0"/>
            <a:chExt cx="526694" cy="526694"/>
          </a:xfrm>
        </p:grpSpPr>
        <p:sp>
          <p:nvSpPr>
            <p:cNvPr name="Freeform 21" id="21" descr="/home/claude/healthchef/icon_book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51660" y="4526280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A89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[2]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74620" y="4526280"/>
            <a:ext cx="13030200" cy="822960"/>
            <a:chOff x="0" y="0"/>
            <a:chExt cx="1737360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B3B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MyPlate App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4380" y="9710928"/>
            <a:ext cx="9601200" cy="411480"/>
            <a:chOff x="0" y="0"/>
            <a:chExt cx="128016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49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HEALTHCHEF · PBL PRESENTATION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843248" y="9710928"/>
            <a:ext cx="822960" cy="411480"/>
            <a:chOff x="0" y="0"/>
            <a:chExt cx="109728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4F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88868" y="-192024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645920" y="809244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0E4E5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55914" y="3154680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12530" y="3511296"/>
            <a:ext cx="658368" cy="658368"/>
            <a:chOff x="0" y="0"/>
            <a:chExt cx="877824" cy="877824"/>
          </a:xfrm>
        </p:grpSpPr>
        <p:sp>
          <p:nvSpPr>
            <p:cNvPr name="Freeform 9" id="9" descr="/home/claude/healthchef/icon_heart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869180"/>
            <a:ext cx="18283428" cy="1371600"/>
            <a:chOff x="0" y="0"/>
            <a:chExt cx="24377904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377904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6172200"/>
            <a:ext cx="18283428" cy="685800"/>
            <a:chOff x="0" y="0"/>
            <a:chExt cx="24377904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471" r="0" b="-4694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4377904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9FD8C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HealthChef — An AI-Based Disease-Aware Diet &amp; Cooking Assistant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DAHVVRwz-kQ</dc:identifier>
  <dcterms:modified xsi:type="dcterms:W3CDTF">2011-08-01T06:04:30Z</dcterms:modified>
  <cp:revision>1</cp:revision>
  <dc:title>Multi-Cuisine meal generation</dc:title>
</cp:coreProperties>
</file>